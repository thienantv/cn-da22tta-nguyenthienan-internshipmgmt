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0"/>
  </p:notesMasterIdLst>
  <p:sldIdLst>
    <p:sldId id="256" r:id="rId2"/>
    <p:sldId id="257" r:id="rId3"/>
    <p:sldId id="258" r:id="rId4"/>
    <p:sldId id="261" r:id="rId5"/>
    <p:sldId id="262" r:id="rId6"/>
    <p:sldId id="263" r:id="rId7"/>
    <p:sldId id="273" r:id="rId8"/>
    <p:sldId id="264" r:id="rId9"/>
    <p:sldId id="265" r:id="rId10"/>
    <p:sldId id="267" r:id="rId11"/>
    <p:sldId id="268" r:id="rId12"/>
    <p:sldId id="269" r:id="rId13"/>
    <p:sldId id="275" r:id="rId14"/>
    <p:sldId id="274" r:id="rId15"/>
    <p:sldId id="276" r:id="rId16"/>
    <p:sldId id="270" r:id="rId17"/>
    <p:sldId id="271"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72B2"/>
    <a:srgbClr val="133D71"/>
    <a:srgbClr val="102B4D"/>
    <a:srgbClr val="234863"/>
    <a:srgbClr val="2A5778"/>
    <a:srgbClr val="5A768A"/>
    <a:srgbClr val="6B9AB6"/>
    <a:srgbClr val="306287"/>
    <a:srgbClr val="1B2F6B"/>
    <a:srgbClr val="A9C3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163" autoAdjust="0"/>
  </p:normalViewPr>
  <p:slideViewPr>
    <p:cSldViewPr snapToGrid="0">
      <p:cViewPr varScale="1">
        <p:scale>
          <a:sx n="58" d="100"/>
          <a:sy n="58" d="100"/>
        </p:scale>
        <p:origin x="989" y="62"/>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FA521F-04E6-4A97-A1A9-E071E554058E}" type="datetimeFigureOut">
              <a:rPr lang="en-US" smtClean="0"/>
              <a:t>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69D227-5E70-4EC0-A120-4F7BD2776162}" type="slidenum">
              <a:rPr lang="en-US" smtClean="0"/>
              <a:t>‹#›</a:t>
            </a:fld>
            <a:endParaRPr lang="en-US"/>
          </a:p>
        </p:txBody>
      </p:sp>
    </p:spTree>
    <p:extLst>
      <p:ext uri="{BB962C8B-B14F-4D97-AF65-F5344CB8AC3E}">
        <p14:creationId xmlns:p14="http://schemas.microsoft.com/office/powerpoint/2010/main" val="2430671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Kính thưa quý Thầy, Cô trong hội đồng.</a:t>
            </a:r>
            <a:br>
              <a:rPr lang="vi-VN" dirty="0"/>
            </a:br>
            <a:r>
              <a:rPr lang="vi-VN" dirty="0"/>
              <a:t>Em tên là </a:t>
            </a:r>
            <a:r>
              <a:rPr lang="vi-VN" b="1" dirty="0"/>
              <a:t>Nguyễn Thiên Ân</a:t>
            </a:r>
            <a:r>
              <a:rPr lang="vi-VN" dirty="0"/>
              <a:t>, sinh viên lớp </a:t>
            </a:r>
            <a:r>
              <a:rPr lang="vi-VN" b="1" dirty="0"/>
              <a:t>DA22TTA</a:t>
            </a:r>
            <a:r>
              <a:rPr lang="vi-VN" dirty="0"/>
              <a:t>.</a:t>
            </a:r>
            <a:br>
              <a:rPr lang="vi-VN" dirty="0"/>
            </a:br>
            <a:r>
              <a:rPr lang="vi-VN" dirty="0"/>
              <a:t>Hôm nay em xin trình bày đồ án chuyên ngành với đề tài </a:t>
            </a:r>
            <a:r>
              <a:rPr lang="vi-VN" b="1" dirty="0"/>
              <a:t>Xây dựng Website quản lý thông tin đơn vị thực tập của sinh viên Khoa Công nghệ Thông tin</a:t>
            </a:r>
            <a:r>
              <a:rPr lang="vi-VN" dirty="0"/>
              <a:t>, dưới sự hướng dẫn của </a:t>
            </a:r>
            <a:r>
              <a:rPr lang="vi-VN" b="1" dirty="0"/>
              <a:t>ThS. Võ Thành C</a:t>
            </a:r>
            <a:r>
              <a:rPr lang="vi-VN" dirty="0"/>
              <a:t>.</a:t>
            </a:r>
            <a:br>
              <a:rPr lang="vi-VN" dirty="0"/>
            </a:br>
            <a:r>
              <a:rPr lang="vi-VN" dirty="0"/>
              <a:t>Sau đây em xin phép được trình bày nội dung chi tiết.</a:t>
            </a:r>
            <a:endParaRPr lang="en-US" dirty="0"/>
          </a:p>
        </p:txBody>
      </p:sp>
      <p:sp>
        <p:nvSpPr>
          <p:cNvPr id="4" name="Slide Number Placeholder 3"/>
          <p:cNvSpPr>
            <a:spLocks noGrp="1"/>
          </p:cNvSpPr>
          <p:nvPr>
            <p:ph type="sldNum" sz="quarter" idx="5"/>
          </p:nvPr>
        </p:nvSpPr>
        <p:spPr/>
        <p:txBody>
          <a:bodyPr/>
          <a:lstStyle/>
          <a:p>
            <a:fld id="{FC69D227-5E70-4EC0-A120-4F7BD2776162}" type="slidenum">
              <a:rPr lang="en-US" smtClean="0"/>
              <a:t>1</a:t>
            </a:fld>
            <a:endParaRPr lang="en-US"/>
          </a:p>
        </p:txBody>
      </p:sp>
    </p:spTree>
    <p:extLst>
      <p:ext uri="{BB962C8B-B14F-4D97-AF65-F5344CB8AC3E}">
        <p14:creationId xmlns:p14="http://schemas.microsoft.com/office/powerpoint/2010/main" val="198735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38A65-D132-95FA-0833-BD73E5D2C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BD7344-5AD7-B135-1BBE-278A575AFB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5F2B9E-D592-5A4A-65FA-3E48F47A38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5285A5-DBC6-CE02-47AB-398783B17ECE}"/>
              </a:ext>
            </a:extLst>
          </p:cNvPr>
          <p:cNvSpPr>
            <a:spLocks noGrp="1"/>
          </p:cNvSpPr>
          <p:nvPr>
            <p:ph type="sldNum" sz="quarter" idx="5"/>
          </p:nvPr>
        </p:nvSpPr>
        <p:spPr/>
        <p:txBody>
          <a:bodyPr/>
          <a:lstStyle/>
          <a:p>
            <a:fld id="{FC69D227-5E70-4EC0-A120-4F7BD2776162}" type="slidenum">
              <a:rPr lang="en-US" smtClean="0"/>
              <a:t>2</a:t>
            </a:fld>
            <a:endParaRPr lang="en-US"/>
          </a:p>
        </p:txBody>
      </p:sp>
    </p:spTree>
    <p:extLst>
      <p:ext uri="{BB962C8B-B14F-4D97-AF65-F5344CB8AC3E}">
        <p14:creationId xmlns:p14="http://schemas.microsoft.com/office/powerpoint/2010/main" val="3962599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55BA7-8F4C-5FE9-B08B-E3DF5D347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9BBCB1-82A0-7BB1-CD9C-F3DC6425D5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C7CBE7-6B7B-E23C-6346-EE7EFB2779DF}"/>
              </a:ext>
            </a:extLst>
          </p:cNvPr>
          <p:cNvSpPr>
            <a:spLocks noGrp="1"/>
          </p:cNvSpPr>
          <p:nvPr>
            <p:ph type="body" idx="1"/>
          </p:nvPr>
        </p:nvSpPr>
        <p:spPr/>
        <p:txBody>
          <a:bodyPr/>
          <a:lstStyle/>
          <a:p>
            <a:r>
              <a:rPr lang="vi-VN" dirty="0"/>
              <a:t>Thực tập là một học phần rất quan trọng đối với sinh viên</a:t>
            </a:r>
            <a:r>
              <a:rPr lang="en-US" dirty="0"/>
              <a:t> </a:t>
            </a:r>
            <a:r>
              <a:rPr lang="en-US" dirty="0" err="1"/>
              <a:t>bậc</a:t>
            </a:r>
            <a:r>
              <a:rPr lang="en-US" dirty="0"/>
              <a:t> </a:t>
            </a:r>
            <a:r>
              <a:rPr lang="en-US" dirty="0" err="1"/>
              <a:t>Đại</a:t>
            </a:r>
            <a:r>
              <a:rPr lang="en-US" dirty="0"/>
              <a:t> Học, </a:t>
            </a:r>
            <a:r>
              <a:rPr lang="en-US" dirty="0" err="1"/>
              <a:t>đặt</a:t>
            </a:r>
            <a:r>
              <a:rPr lang="en-US" dirty="0"/>
              <a:t> </a:t>
            </a:r>
            <a:r>
              <a:rPr lang="en-US" dirty="0" err="1"/>
              <a:t>biệt</a:t>
            </a:r>
            <a:r>
              <a:rPr lang="en-US" dirty="0"/>
              <a:t> </a:t>
            </a:r>
            <a:r>
              <a:rPr lang="en-US" dirty="0" err="1"/>
              <a:t>là</a:t>
            </a:r>
            <a:r>
              <a:rPr lang="en-US" dirty="0"/>
              <a:t> </a:t>
            </a:r>
            <a:r>
              <a:rPr lang="en-US" dirty="0" err="1"/>
              <a:t>sinh</a:t>
            </a:r>
            <a:r>
              <a:rPr lang="en-US" dirty="0"/>
              <a:t> </a:t>
            </a:r>
            <a:r>
              <a:rPr lang="en-US" dirty="0" err="1"/>
              <a:t>viên</a:t>
            </a:r>
            <a:r>
              <a:rPr lang="vi-VN" dirty="0"/>
              <a:t> Công nghệ Thông tin,</a:t>
            </a:r>
            <a:r>
              <a:rPr lang="en-US" dirty="0"/>
              <a:t> </a:t>
            </a:r>
            <a:r>
              <a:rPr lang="en-US" dirty="0" err="1"/>
              <a:t>thực</a:t>
            </a:r>
            <a:r>
              <a:rPr lang="en-US" dirty="0"/>
              <a:t> </a:t>
            </a:r>
            <a:r>
              <a:rPr lang="en-US" dirty="0" err="1"/>
              <a:t>tập</a:t>
            </a:r>
            <a:r>
              <a:rPr lang="vi-VN" dirty="0"/>
              <a:t> giúp</a:t>
            </a:r>
            <a:r>
              <a:rPr lang="en-US" dirty="0"/>
              <a:t> </a:t>
            </a:r>
            <a:r>
              <a:rPr lang="en-US" dirty="0" err="1"/>
              <a:t>cho</a:t>
            </a:r>
            <a:r>
              <a:rPr lang="vi-VN" dirty="0"/>
              <a:t> sinh viên tiếp cận môi trường làm việc thực tế.</a:t>
            </a:r>
            <a:br>
              <a:rPr lang="vi-VN" dirty="0"/>
            </a:br>
            <a:r>
              <a:rPr lang="vi-VN" dirty="0"/>
              <a:t>Tuy nhiên, hiện nay việc quản lý thông tin các đơn vị thực tập tại nhiều khoa vẫn còn mang tính thủ công, dữ liệu phân tán và khó tra cứu.</a:t>
            </a:r>
            <a:br>
              <a:rPr lang="vi-VN" dirty="0"/>
            </a:br>
            <a:r>
              <a:rPr lang="vi-VN" dirty="0"/>
              <a:t>Điều này gây khó khăn cho cả cán bộ quản lý lẫn sinh viên.</a:t>
            </a:r>
            <a:br>
              <a:rPr lang="vi-VN" dirty="0"/>
            </a:br>
            <a:r>
              <a:rPr lang="vi-VN" dirty="0"/>
              <a:t>Vì vậy, em lựa chọn đề tài này nhằm xây dựng một hệ thống website giúp quản lý tập trung thông tin đơn vị thực tập và hỗ trợ sinh viên tra cứu thuận tiện hơn.</a:t>
            </a:r>
            <a:endParaRPr lang="en-US" dirty="0"/>
          </a:p>
        </p:txBody>
      </p:sp>
      <p:sp>
        <p:nvSpPr>
          <p:cNvPr id="4" name="Slide Number Placeholder 3">
            <a:extLst>
              <a:ext uri="{FF2B5EF4-FFF2-40B4-BE49-F238E27FC236}">
                <a16:creationId xmlns:a16="http://schemas.microsoft.com/office/drawing/2014/main" id="{4ECD9619-CB0D-8BBD-DD6E-ED5DE764F16E}"/>
              </a:ext>
            </a:extLst>
          </p:cNvPr>
          <p:cNvSpPr>
            <a:spLocks noGrp="1"/>
          </p:cNvSpPr>
          <p:nvPr>
            <p:ph type="sldNum" sz="quarter" idx="5"/>
          </p:nvPr>
        </p:nvSpPr>
        <p:spPr/>
        <p:txBody>
          <a:bodyPr/>
          <a:lstStyle/>
          <a:p>
            <a:fld id="{FC69D227-5E70-4EC0-A120-4F7BD2776162}" type="slidenum">
              <a:rPr lang="en-US" smtClean="0"/>
              <a:t>3</a:t>
            </a:fld>
            <a:endParaRPr lang="en-US"/>
          </a:p>
        </p:txBody>
      </p:sp>
    </p:spTree>
    <p:extLst>
      <p:ext uri="{BB962C8B-B14F-4D97-AF65-F5344CB8AC3E}">
        <p14:creationId xmlns:p14="http://schemas.microsoft.com/office/powerpoint/2010/main" val="3948694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9AB52-0083-6314-E488-C7BC695CB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E97E91-FDBF-F008-398E-3F2DC2EB6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790084-83BC-1CCB-2200-C13DD12356A5}"/>
              </a:ext>
            </a:extLst>
          </p:cNvPr>
          <p:cNvSpPr>
            <a:spLocks noGrp="1"/>
          </p:cNvSpPr>
          <p:nvPr>
            <p:ph type="body" idx="1"/>
          </p:nvPr>
        </p:nvSpPr>
        <p:spPr/>
        <p:txBody>
          <a:bodyPr/>
          <a:lstStyle/>
          <a:p>
            <a:r>
              <a:rPr lang="vi-VN" dirty="0"/>
              <a:t>Hệ thống được xây dựng theo mô hình ứng dụng web hiện đại.</a:t>
            </a:r>
            <a:br>
              <a:rPr lang="vi-VN" dirty="0"/>
            </a:br>
            <a:r>
              <a:rPr lang="vi-VN" dirty="0"/>
              <a:t>Ở phía backend, em sử dụng </a:t>
            </a:r>
            <a:r>
              <a:rPr lang="vi-VN" b="1" dirty="0"/>
              <a:t>Node.js kết hợp với Express.js</a:t>
            </a:r>
            <a:r>
              <a:rPr lang="vi-VN" dirty="0"/>
              <a:t> để xây dựng các API xử lý nghiệp vụ.</a:t>
            </a:r>
            <a:br>
              <a:rPr lang="vi-VN" dirty="0"/>
            </a:br>
            <a:r>
              <a:rPr lang="vi-VN" dirty="0"/>
              <a:t>Phía frontend sử dụng </a:t>
            </a:r>
            <a:r>
              <a:rPr lang="vi-VN" b="1" dirty="0"/>
              <a:t>ReactJS</a:t>
            </a:r>
            <a:r>
              <a:rPr lang="vi-VN" dirty="0"/>
              <a:t> để xây dựng giao diện người dùng.</a:t>
            </a:r>
            <a:br>
              <a:rPr lang="vi-VN" dirty="0"/>
            </a:br>
            <a:r>
              <a:rPr lang="vi-VN" dirty="0"/>
              <a:t>Dữ liệu được lưu trữ và quản lý bằng </a:t>
            </a:r>
            <a:r>
              <a:rPr lang="vi-VN" b="1" dirty="0"/>
              <a:t>MySQL</a:t>
            </a:r>
            <a:r>
              <a:rPr lang="vi-VN" dirty="0"/>
              <a:t>.</a:t>
            </a:r>
            <a:br>
              <a:rPr lang="vi-VN" dirty="0"/>
            </a:br>
            <a:r>
              <a:rPr lang="vi-VN" dirty="0"/>
              <a:t>Các thành phần giao tiếp với nhau thông qua </a:t>
            </a:r>
            <a:r>
              <a:rPr lang="vi-VN" b="1" dirty="0"/>
              <a:t>RESTful API</a:t>
            </a:r>
            <a:r>
              <a:rPr lang="vi-VN" dirty="0"/>
              <a:t>.</a:t>
            </a:r>
            <a:br>
              <a:rPr lang="en-US" dirty="0"/>
            </a:br>
            <a:br>
              <a:rPr lang="en-US" dirty="0"/>
            </a:br>
            <a:r>
              <a:rPr lang="vi-VN" b="1" dirty="0"/>
              <a:t>Frontend (ReactJS)</a:t>
            </a:r>
            <a:endParaRPr lang="vi-VN" dirty="0"/>
          </a:p>
          <a:p>
            <a:pPr lvl="1"/>
            <a:r>
              <a:rPr lang="vi-VN" dirty="0"/>
              <a:t>Chạy trên trình duyệt</a:t>
            </a:r>
          </a:p>
          <a:p>
            <a:pPr lvl="1"/>
            <a:r>
              <a:rPr lang="vi-VN" dirty="0"/>
              <a:t>Gửi request HTTP (GET, POST, PUT, DELETE) đến Backend</a:t>
            </a:r>
          </a:p>
          <a:p>
            <a:r>
              <a:rPr lang="vi-VN" b="1" dirty="0"/>
              <a:t>Backend (Node.js + Express.js)</a:t>
            </a:r>
            <a:endParaRPr lang="vi-VN" dirty="0"/>
          </a:p>
          <a:p>
            <a:pPr lvl="1"/>
            <a:r>
              <a:rPr lang="vi-VN" dirty="0"/>
              <a:t>Xử lý logic nghiệp vụ</a:t>
            </a:r>
          </a:p>
          <a:p>
            <a:pPr lvl="1"/>
            <a:r>
              <a:rPr lang="vi-VN" dirty="0"/>
              <a:t>Cung cấp </a:t>
            </a:r>
            <a:r>
              <a:rPr lang="vi-VN" b="1" dirty="0"/>
              <a:t>RESTful API</a:t>
            </a:r>
            <a:endParaRPr lang="vi-VN" dirty="0"/>
          </a:p>
          <a:p>
            <a:pPr lvl="1"/>
            <a:r>
              <a:rPr lang="vi-VN" dirty="0"/>
              <a:t>Giao tiếp với MySQL</a:t>
            </a:r>
          </a:p>
          <a:p>
            <a:r>
              <a:rPr lang="vi-VN" b="1" dirty="0"/>
              <a:t>Database (MySQL)</a:t>
            </a:r>
            <a:endParaRPr lang="vi-VN" dirty="0"/>
          </a:p>
          <a:p>
            <a:pPr lvl="1"/>
            <a:r>
              <a:rPr lang="vi-VN" dirty="0"/>
              <a:t>Lưu trữ dữ liệu</a:t>
            </a:r>
          </a:p>
          <a:p>
            <a:pPr lvl="1"/>
            <a:r>
              <a:rPr lang="vi-VN" dirty="0"/>
              <a:t>Thực hiện CRUD</a:t>
            </a:r>
          </a:p>
        </p:txBody>
      </p:sp>
      <p:sp>
        <p:nvSpPr>
          <p:cNvPr id="4" name="Slide Number Placeholder 3">
            <a:extLst>
              <a:ext uri="{FF2B5EF4-FFF2-40B4-BE49-F238E27FC236}">
                <a16:creationId xmlns:a16="http://schemas.microsoft.com/office/drawing/2014/main" id="{5FE96A7B-5D8D-1AD3-2422-B3E75DAB0532}"/>
              </a:ext>
            </a:extLst>
          </p:cNvPr>
          <p:cNvSpPr>
            <a:spLocks noGrp="1"/>
          </p:cNvSpPr>
          <p:nvPr>
            <p:ph type="sldNum" sz="quarter" idx="5"/>
          </p:nvPr>
        </p:nvSpPr>
        <p:spPr/>
        <p:txBody>
          <a:bodyPr/>
          <a:lstStyle/>
          <a:p>
            <a:fld id="{FC69D227-5E70-4EC0-A120-4F7BD2776162}" type="slidenum">
              <a:rPr lang="en-US" smtClean="0"/>
              <a:t>4</a:t>
            </a:fld>
            <a:endParaRPr lang="en-US"/>
          </a:p>
        </p:txBody>
      </p:sp>
    </p:spTree>
    <p:extLst>
      <p:ext uri="{BB962C8B-B14F-4D97-AF65-F5344CB8AC3E}">
        <p14:creationId xmlns:p14="http://schemas.microsoft.com/office/powerpoint/2010/main" val="42123948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50115-10A5-F7DC-5FED-4891C283E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70CDD-A3D4-826D-B2BC-D8498D3E43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83D44F-5B3A-F4E1-3D04-EAD938111DE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Hệ thống được thiết kế theo kiến trúc </a:t>
            </a:r>
            <a:r>
              <a:rPr lang="vi-VN" b="1" dirty="0"/>
              <a:t>ba lớp</a:t>
            </a:r>
            <a:r>
              <a:rPr lang="vi-VN" dirty="0"/>
              <a:t>.</a:t>
            </a:r>
            <a:br>
              <a:rPr lang="vi-VN" dirty="0"/>
            </a:br>
            <a:r>
              <a:rPr lang="vi-VN" dirty="0"/>
              <a:t>Lớp trình bày là giao diện người dùng, được xây dựng bằng ReactJS.</a:t>
            </a:r>
            <a:r>
              <a:rPr lang="en-US" dirty="0"/>
              <a:t> </a:t>
            </a:r>
            <a:r>
              <a:rPr lang="vi-VN" sz="1200" b="0" i="0" kern="1200" dirty="0">
                <a:solidFill>
                  <a:schemeClr val="tx1"/>
                </a:solidFill>
                <a:effectLst/>
                <a:latin typeface="+mn-lt"/>
                <a:ea typeface="+mn-ea"/>
                <a:cs typeface="+mn-cs"/>
              </a:rPr>
              <a:t>Lớp này có nhiệm vụ chính là giao tiếp với người dùng.</a:t>
            </a:r>
            <a:br>
              <a:rPr lang="vi-VN" dirty="0"/>
            </a:br>
            <a:r>
              <a:rPr lang="vi-VN" dirty="0"/>
              <a:t>Lớp xử lý nghiệp vụ được triển khai trên Node.js và Express.js.</a:t>
            </a:r>
            <a:r>
              <a:rPr lang="en-US" dirty="0"/>
              <a:t> </a:t>
            </a:r>
            <a:r>
              <a:rPr lang="vi-VN" sz="1200" b="0" i="0" kern="1200" dirty="0">
                <a:solidFill>
                  <a:schemeClr val="tx1"/>
                </a:solidFill>
                <a:effectLst/>
                <a:latin typeface="+mn-lt"/>
                <a:ea typeface="+mn-ea"/>
                <a:cs typeface="+mn-cs"/>
              </a:rPr>
              <a:t>Đây là nơi đáp ứng các yêu cầu thao tác dữ liệu của GUI layer, xử lý chính nguồn dữ liệu từ Presentation Layer trước khi truyền xuống Data Access Layer và lưu xuống hệ quản trị CSDL. Đây còn là nơi kiểm tra các ràng buộc, tính toàn vẹn và hợp lệ dữ liệu, thực hiện tính toán và xử lý các yêu cầu nghiệp vụ, trước khi trả kết quả về Presentation Layer.</a:t>
            </a:r>
            <a:br>
              <a:rPr lang="vi-VN" dirty="0"/>
            </a:br>
            <a:r>
              <a:rPr lang="vi-VN" dirty="0"/>
              <a:t>Lớp dữ liệu sử dụng hệ quản trị cơ sở dữ liệu MySQL.</a:t>
            </a:r>
            <a:r>
              <a:rPr lang="en-US" dirty="0"/>
              <a:t> </a:t>
            </a:r>
            <a:r>
              <a:rPr lang="vi-VN" sz="1200" b="0" i="0" kern="1200" dirty="0">
                <a:solidFill>
                  <a:schemeClr val="tx1"/>
                </a:solidFill>
                <a:effectLst/>
                <a:latin typeface="+mn-lt"/>
                <a:ea typeface="+mn-ea"/>
                <a:cs typeface="+mn-cs"/>
              </a:rPr>
              <a:t>Lớp này có chức năng giao tiếp với hệ quản trị CSDL như thực hiện các công việc liên quan đến lưu trữ và truy vấn dữ liệu ( tìm kiếm, thêm, xóa, sửa,…).</a:t>
            </a:r>
            <a:br>
              <a:rPr lang="vi-VN" dirty="0"/>
            </a:br>
            <a:r>
              <a:rPr lang="vi-VN" dirty="0"/>
              <a:t>Kiến trúc này giúp hệ thống dễ bảo trì, dễ mở rộng và phân tách rõ ràng chức năng.</a:t>
            </a:r>
            <a:endParaRPr lang="en-US" dirty="0"/>
          </a:p>
        </p:txBody>
      </p:sp>
      <p:sp>
        <p:nvSpPr>
          <p:cNvPr id="4" name="Slide Number Placeholder 3">
            <a:extLst>
              <a:ext uri="{FF2B5EF4-FFF2-40B4-BE49-F238E27FC236}">
                <a16:creationId xmlns:a16="http://schemas.microsoft.com/office/drawing/2014/main" id="{B0FD4252-6C46-2970-4825-568D470E0089}"/>
              </a:ext>
            </a:extLst>
          </p:cNvPr>
          <p:cNvSpPr>
            <a:spLocks noGrp="1"/>
          </p:cNvSpPr>
          <p:nvPr>
            <p:ph type="sldNum" sz="quarter" idx="5"/>
          </p:nvPr>
        </p:nvSpPr>
        <p:spPr/>
        <p:txBody>
          <a:bodyPr/>
          <a:lstStyle/>
          <a:p>
            <a:fld id="{FC69D227-5E70-4EC0-A120-4F7BD2776162}" type="slidenum">
              <a:rPr lang="en-US" smtClean="0"/>
              <a:t>5</a:t>
            </a:fld>
            <a:endParaRPr lang="en-US"/>
          </a:p>
        </p:txBody>
      </p:sp>
    </p:spTree>
    <p:extLst>
      <p:ext uri="{BB962C8B-B14F-4D97-AF65-F5344CB8AC3E}">
        <p14:creationId xmlns:p14="http://schemas.microsoft.com/office/powerpoint/2010/main" val="16940294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1E10C-D2C2-2B3F-6FB4-929256DB5D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51DEE6-CDB1-43CA-0F9F-B05B6F1CE4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45A00C-66A8-E38C-D969-56A6ACFF365E}"/>
              </a:ext>
            </a:extLst>
          </p:cNvPr>
          <p:cNvSpPr>
            <a:spLocks noGrp="1"/>
          </p:cNvSpPr>
          <p:nvPr>
            <p:ph type="body" idx="1"/>
          </p:nvPr>
        </p:nvSpPr>
        <p:spPr/>
        <p:txBody>
          <a:bodyPr/>
          <a:lstStyle/>
          <a:p>
            <a:r>
              <a:rPr lang="vi-VN" dirty="0"/>
              <a:t>Về yêu cầu chức năng, hệ thống cần quản lý người dùng và phân quyền, quản lý đơn vị thực tập và cán bộ hướng dẫn, hỗ trợ tra cứu, tìm kiếm và thống kê dữ liệu.</a:t>
            </a:r>
            <a:br>
              <a:rPr lang="vi-VN" dirty="0"/>
            </a:br>
            <a:r>
              <a:rPr lang="vi-VN" dirty="0"/>
              <a:t>Bên cạnh đó, hệ thống cũng phải đáp ứng các yêu cầu phi chức năng như đảm bảo bảo mật thông tin người dùng, giao diện thân thiện và hệ thống hoạt động ổn định.</a:t>
            </a:r>
          </a:p>
        </p:txBody>
      </p:sp>
      <p:sp>
        <p:nvSpPr>
          <p:cNvPr id="4" name="Slide Number Placeholder 3">
            <a:extLst>
              <a:ext uri="{FF2B5EF4-FFF2-40B4-BE49-F238E27FC236}">
                <a16:creationId xmlns:a16="http://schemas.microsoft.com/office/drawing/2014/main" id="{1C71A906-E4AF-0D32-1E9C-926CCE6E7E27}"/>
              </a:ext>
            </a:extLst>
          </p:cNvPr>
          <p:cNvSpPr>
            <a:spLocks noGrp="1"/>
          </p:cNvSpPr>
          <p:nvPr>
            <p:ph type="sldNum" sz="quarter" idx="5"/>
          </p:nvPr>
        </p:nvSpPr>
        <p:spPr/>
        <p:txBody>
          <a:bodyPr/>
          <a:lstStyle/>
          <a:p>
            <a:fld id="{FC69D227-5E70-4EC0-A120-4F7BD2776162}" type="slidenum">
              <a:rPr lang="en-US" smtClean="0"/>
              <a:t>6</a:t>
            </a:fld>
            <a:endParaRPr lang="en-US"/>
          </a:p>
        </p:txBody>
      </p:sp>
    </p:spTree>
    <p:extLst>
      <p:ext uri="{BB962C8B-B14F-4D97-AF65-F5344CB8AC3E}">
        <p14:creationId xmlns:p14="http://schemas.microsoft.com/office/powerpoint/2010/main" val="1855271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A999D-C21D-7C21-CDE9-BE9D679E55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AB51A6-5EAB-1A34-E915-60EC43053B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811963-13F5-6E92-D6B8-113BE7D2785A}"/>
              </a:ext>
            </a:extLst>
          </p:cNvPr>
          <p:cNvSpPr>
            <a:spLocks noGrp="1"/>
          </p:cNvSpPr>
          <p:nvPr>
            <p:ph type="body" idx="1"/>
          </p:nvPr>
        </p:nvSpPr>
        <p:spPr/>
        <p:txBody>
          <a:bodyPr/>
          <a:lstStyle/>
          <a:p>
            <a:r>
              <a:rPr lang="vi-VN" dirty="0"/>
              <a:t>Sơ đồ Use Case mô tả các chức năng của hệ thống theo từng đối tượng sử dụng.</a:t>
            </a:r>
            <a:br>
              <a:rPr lang="vi-VN" dirty="0"/>
            </a:br>
            <a:r>
              <a:rPr lang="vi-VN" dirty="0"/>
              <a:t>Hệ thống có ba tác nhân chính gồm </a:t>
            </a:r>
            <a:r>
              <a:rPr lang="vi-VN" b="1" dirty="0"/>
              <a:t>Quản trị viên</a:t>
            </a:r>
            <a:r>
              <a:rPr lang="vi-VN" dirty="0"/>
              <a:t>, </a:t>
            </a:r>
            <a:r>
              <a:rPr lang="vi-VN" b="1" dirty="0"/>
              <a:t>Cán bộ quản lý</a:t>
            </a:r>
            <a:r>
              <a:rPr lang="vi-VN" dirty="0"/>
              <a:t> và </a:t>
            </a:r>
            <a:r>
              <a:rPr lang="vi-VN" b="1" dirty="0"/>
              <a:t>Sinh viên</a:t>
            </a:r>
            <a:r>
              <a:rPr lang="vi-VN" dirty="0"/>
              <a:t>.</a:t>
            </a:r>
            <a:br>
              <a:rPr lang="vi-VN" dirty="0"/>
            </a:br>
            <a:r>
              <a:rPr lang="vi-VN" dirty="0"/>
              <a:t>Mỗi tác nhân được phân quyền truy cập và thao tác khác nhau, đảm bảo đúng vai trò và tăng tính an toàn cho hệ thống.</a:t>
            </a:r>
          </a:p>
        </p:txBody>
      </p:sp>
      <p:sp>
        <p:nvSpPr>
          <p:cNvPr id="4" name="Slide Number Placeholder 3">
            <a:extLst>
              <a:ext uri="{FF2B5EF4-FFF2-40B4-BE49-F238E27FC236}">
                <a16:creationId xmlns:a16="http://schemas.microsoft.com/office/drawing/2014/main" id="{6EB77396-5C2B-BA52-886F-3A0AE7577405}"/>
              </a:ext>
            </a:extLst>
          </p:cNvPr>
          <p:cNvSpPr>
            <a:spLocks noGrp="1"/>
          </p:cNvSpPr>
          <p:nvPr>
            <p:ph type="sldNum" sz="quarter" idx="5"/>
          </p:nvPr>
        </p:nvSpPr>
        <p:spPr/>
        <p:txBody>
          <a:bodyPr/>
          <a:lstStyle/>
          <a:p>
            <a:fld id="{FC69D227-5E70-4EC0-A120-4F7BD2776162}" type="slidenum">
              <a:rPr lang="en-US" smtClean="0"/>
              <a:t>7</a:t>
            </a:fld>
            <a:endParaRPr lang="en-US"/>
          </a:p>
        </p:txBody>
      </p:sp>
    </p:spTree>
    <p:extLst>
      <p:ext uri="{BB962C8B-B14F-4D97-AF65-F5344CB8AC3E}">
        <p14:creationId xmlns:p14="http://schemas.microsoft.com/office/powerpoint/2010/main" val="1060815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03F05-95B3-835B-9656-AA9C5261C3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CF3606-D7F7-3839-E90E-20D190649A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392B4B-0E02-2DAF-C36F-3EC8A1AD1A8E}"/>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4E65A2B0-57C8-3197-4ACF-014BD7634492}"/>
              </a:ext>
            </a:extLst>
          </p:cNvPr>
          <p:cNvSpPr>
            <a:spLocks noGrp="1"/>
          </p:cNvSpPr>
          <p:nvPr>
            <p:ph type="sldNum" sz="quarter" idx="5"/>
          </p:nvPr>
        </p:nvSpPr>
        <p:spPr/>
        <p:txBody>
          <a:bodyPr/>
          <a:lstStyle/>
          <a:p>
            <a:fld id="{FC69D227-5E70-4EC0-A120-4F7BD2776162}" type="slidenum">
              <a:rPr lang="en-US" smtClean="0"/>
              <a:t>8</a:t>
            </a:fld>
            <a:endParaRPr lang="en-US"/>
          </a:p>
        </p:txBody>
      </p:sp>
    </p:spTree>
    <p:extLst>
      <p:ext uri="{BB962C8B-B14F-4D97-AF65-F5344CB8AC3E}">
        <p14:creationId xmlns:p14="http://schemas.microsoft.com/office/powerpoint/2010/main" val="2399141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08A4E-2731-0CCB-A512-5E865814C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768F6-97AF-F250-5B55-2756CA3016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D89EB4-AD7B-8EB0-998F-B65550D449CF}"/>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4F80B702-667C-6D69-352B-6844EA296924}"/>
              </a:ext>
            </a:extLst>
          </p:cNvPr>
          <p:cNvSpPr>
            <a:spLocks noGrp="1"/>
          </p:cNvSpPr>
          <p:nvPr>
            <p:ph type="sldNum" sz="quarter" idx="5"/>
          </p:nvPr>
        </p:nvSpPr>
        <p:spPr/>
        <p:txBody>
          <a:bodyPr/>
          <a:lstStyle/>
          <a:p>
            <a:fld id="{FC69D227-5E70-4EC0-A120-4F7BD2776162}" type="slidenum">
              <a:rPr lang="en-US" smtClean="0"/>
              <a:t>9</a:t>
            </a:fld>
            <a:endParaRPr lang="en-US"/>
          </a:p>
        </p:txBody>
      </p:sp>
    </p:spTree>
    <p:extLst>
      <p:ext uri="{BB962C8B-B14F-4D97-AF65-F5344CB8AC3E}">
        <p14:creationId xmlns:p14="http://schemas.microsoft.com/office/powerpoint/2010/main" val="3558002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184A-E7C7-7F95-7612-3481FB4801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962CC-94D1-4B95-D85D-5523806E97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80B8D5-B152-253C-9E7C-1DF1B2398B89}"/>
              </a:ext>
            </a:extLst>
          </p:cNvPr>
          <p:cNvSpPr>
            <a:spLocks noGrp="1"/>
          </p:cNvSpPr>
          <p:nvPr>
            <p:ph type="body" idx="1"/>
          </p:nvPr>
        </p:nvSpPr>
        <p:spPr/>
        <p:txBody>
          <a:bodyPr/>
          <a:lstStyle/>
          <a:p>
            <a:r>
              <a:rPr lang="vi-VN" dirty="0"/>
              <a:t>Các thực thể chính gồm cán bộ quản lý</a:t>
            </a:r>
            <a:r>
              <a:rPr lang="en-US" dirty="0"/>
              <a:t>, </a:t>
            </a:r>
            <a:r>
              <a:rPr lang="vi-VN" dirty="0"/>
              <a:t>sinh viên, đơn vị thực tập</a:t>
            </a:r>
            <a:r>
              <a:rPr lang="en-US" dirty="0"/>
              <a:t> </a:t>
            </a:r>
            <a:r>
              <a:rPr lang="vi-VN" dirty="0"/>
              <a:t>và cán bộ hướng dẫn.</a:t>
            </a:r>
            <a:br>
              <a:rPr lang="vi-VN" dirty="0"/>
            </a:br>
            <a:r>
              <a:rPr lang="vi-VN" dirty="0"/>
              <a:t>Hệ thống có các mối quan hệ một – nhiều</a:t>
            </a:r>
            <a:r>
              <a:rPr lang="en-US" dirty="0"/>
              <a:t> (</a:t>
            </a:r>
            <a:r>
              <a:rPr lang="en-US" dirty="0" err="1"/>
              <a:t>đơn</a:t>
            </a:r>
            <a:r>
              <a:rPr lang="en-US" dirty="0"/>
              <a:t> </a:t>
            </a:r>
            <a:r>
              <a:rPr lang="en-US" dirty="0" err="1"/>
              <a:t>vị</a:t>
            </a:r>
            <a:r>
              <a:rPr lang="en-US" dirty="0"/>
              <a:t> - </a:t>
            </a:r>
            <a:r>
              <a:rPr lang="en-US" dirty="0" err="1"/>
              <a:t>cán</a:t>
            </a:r>
            <a:r>
              <a:rPr lang="en-US" dirty="0"/>
              <a:t> </a:t>
            </a:r>
            <a:r>
              <a:rPr lang="en-US" dirty="0" err="1"/>
              <a:t>bộ</a:t>
            </a:r>
            <a:r>
              <a:rPr lang="en-US" dirty="0"/>
              <a:t> </a:t>
            </a:r>
            <a:r>
              <a:rPr lang="en-US" dirty="0" err="1"/>
              <a:t>hướng</a:t>
            </a:r>
            <a:r>
              <a:rPr lang="en-US" dirty="0"/>
              <a:t> </a:t>
            </a:r>
            <a:r>
              <a:rPr lang="en-US" dirty="0" err="1"/>
              <a:t>dẫn</a:t>
            </a:r>
            <a:r>
              <a:rPr lang="en-US" dirty="0"/>
              <a:t>)</a:t>
            </a:r>
            <a:r>
              <a:rPr lang="vi-VN" dirty="0"/>
              <a:t> và nhiều – nhiều, trong đó quan hệ nhiều – nhiều giữa sinh viên và đơn vị thực tập được triển khai thông qua bảng trung gian yêu thích.</a:t>
            </a:r>
          </a:p>
        </p:txBody>
      </p:sp>
      <p:sp>
        <p:nvSpPr>
          <p:cNvPr id="4" name="Slide Number Placeholder 3">
            <a:extLst>
              <a:ext uri="{FF2B5EF4-FFF2-40B4-BE49-F238E27FC236}">
                <a16:creationId xmlns:a16="http://schemas.microsoft.com/office/drawing/2014/main" id="{F0E0B74F-63CF-26C0-D1D5-D8384809E7AC}"/>
              </a:ext>
            </a:extLst>
          </p:cNvPr>
          <p:cNvSpPr>
            <a:spLocks noGrp="1"/>
          </p:cNvSpPr>
          <p:nvPr>
            <p:ph type="sldNum" sz="quarter" idx="5"/>
          </p:nvPr>
        </p:nvSpPr>
        <p:spPr/>
        <p:txBody>
          <a:bodyPr/>
          <a:lstStyle/>
          <a:p>
            <a:fld id="{FC69D227-5E70-4EC0-A120-4F7BD2776162}" type="slidenum">
              <a:rPr lang="en-US" smtClean="0"/>
              <a:t>10</a:t>
            </a:fld>
            <a:endParaRPr lang="en-US"/>
          </a:p>
        </p:txBody>
      </p:sp>
    </p:spTree>
    <p:extLst>
      <p:ext uri="{BB962C8B-B14F-4D97-AF65-F5344CB8AC3E}">
        <p14:creationId xmlns:p14="http://schemas.microsoft.com/office/powerpoint/2010/main" val="1462042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B95FD-E139-1316-FC65-91AAF290A2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141200-C37A-8CD3-C062-0AF804A0CE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0CA638-CFEF-2298-C614-BA095263CC98}"/>
              </a:ext>
            </a:extLst>
          </p:cNvPr>
          <p:cNvSpPr>
            <a:spLocks noGrp="1"/>
          </p:cNvSpPr>
          <p:nvPr>
            <p:ph type="body" idx="1"/>
          </p:nvPr>
        </p:nvSpPr>
        <p:spPr/>
        <p:txBody>
          <a:bodyPr/>
          <a:lstStyle/>
          <a:p>
            <a:r>
              <a:rPr lang="vi-VN" dirty="0"/>
              <a:t>Giao diện người dùng được thiết kế theo hướng đơn giản, trực quan và dễ sử dụng.</a:t>
            </a:r>
            <a:br>
              <a:rPr lang="vi-VN" dirty="0"/>
            </a:br>
            <a:r>
              <a:rPr lang="vi-VN" dirty="0"/>
              <a:t>Mỗi nhóm người dùng được cung cấp giao diện phù hợp với chức năng và quyền hạn của mình.</a:t>
            </a:r>
          </a:p>
        </p:txBody>
      </p:sp>
      <p:sp>
        <p:nvSpPr>
          <p:cNvPr id="4" name="Slide Number Placeholder 3">
            <a:extLst>
              <a:ext uri="{FF2B5EF4-FFF2-40B4-BE49-F238E27FC236}">
                <a16:creationId xmlns:a16="http://schemas.microsoft.com/office/drawing/2014/main" id="{BB1F1C22-7EAF-C6B0-E3CB-A0EC5373D0FB}"/>
              </a:ext>
            </a:extLst>
          </p:cNvPr>
          <p:cNvSpPr>
            <a:spLocks noGrp="1"/>
          </p:cNvSpPr>
          <p:nvPr>
            <p:ph type="sldNum" sz="quarter" idx="5"/>
          </p:nvPr>
        </p:nvSpPr>
        <p:spPr/>
        <p:txBody>
          <a:bodyPr/>
          <a:lstStyle/>
          <a:p>
            <a:fld id="{FC69D227-5E70-4EC0-A120-4F7BD2776162}" type="slidenum">
              <a:rPr lang="en-US" smtClean="0"/>
              <a:t>11</a:t>
            </a:fld>
            <a:endParaRPr lang="en-US"/>
          </a:p>
        </p:txBody>
      </p:sp>
    </p:spTree>
    <p:extLst>
      <p:ext uri="{BB962C8B-B14F-4D97-AF65-F5344CB8AC3E}">
        <p14:creationId xmlns:p14="http://schemas.microsoft.com/office/powerpoint/2010/main" val="21194016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01638-CA59-CF4A-BF19-783F79E3E0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AA4B4-D030-EF01-7777-3E29A1FE8F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1A0DBA-833A-A689-2E29-7679CDD3BDED}"/>
              </a:ext>
            </a:extLst>
          </p:cNvPr>
          <p:cNvSpPr>
            <a:spLocks noGrp="1"/>
          </p:cNvSpPr>
          <p:nvPr>
            <p:ph type="body" idx="1"/>
          </p:nvPr>
        </p:nvSpPr>
        <p:spPr/>
        <p:txBody>
          <a:bodyPr/>
          <a:lstStyle/>
          <a:p>
            <a:r>
              <a:rPr lang="vi-VN" dirty="0"/>
              <a:t>Sau khi xây dựng xong hệ thống, em tiến hành kiểm thử cả backend và frontend.</a:t>
            </a:r>
            <a:br>
              <a:rPr lang="vi-VN" dirty="0"/>
            </a:br>
            <a:r>
              <a:rPr lang="vi-VN" dirty="0"/>
              <a:t>Backend được kiểm thử thông qua công cụ Postman để đảm bảo các API hoạt động đúng.</a:t>
            </a:r>
            <a:br>
              <a:rPr lang="vi-VN" dirty="0"/>
            </a:br>
            <a:r>
              <a:rPr lang="vi-VN" dirty="0"/>
              <a:t>Frontend được kiểm thử trực tiếp trên trình duyệt.</a:t>
            </a:r>
            <a:br>
              <a:rPr lang="vi-VN" dirty="0"/>
            </a:br>
            <a:r>
              <a:rPr lang="vi-VN" dirty="0"/>
              <a:t>Kết quả cho thấy hệ thống hoạt động ổn định và đáp ứng các yêu cầu đã đề ra.</a:t>
            </a:r>
          </a:p>
        </p:txBody>
      </p:sp>
      <p:sp>
        <p:nvSpPr>
          <p:cNvPr id="4" name="Slide Number Placeholder 3">
            <a:extLst>
              <a:ext uri="{FF2B5EF4-FFF2-40B4-BE49-F238E27FC236}">
                <a16:creationId xmlns:a16="http://schemas.microsoft.com/office/drawing/2014/main" id="{E8646C33-7AD8-043C-6C26-48C764FDBE49}"/>
              </a:ext>
            </a:extLst>
          </p:cNvPr>
          <p:cNvSpPr>
            <a:spLocks noGrp="1"/>
          </p:cNvSpPr>
          <p:nvPr>
            <p:ph type="sldNum" sz="quarter" idx="5"/>
          </p:nvPr>
        </p:nvSpPr>
        <p:spPr/>
        <p:txBody>
          <a:bodyPr/>
          <a:lstStyle/>
          <a:p>
            <a:fld id="{FC69D227-5E70-4EC0-A120-4F7BD2776162}" type="slidenum">
              <a:rPr lang="en-US" smtClean="0"/>
              <a:t>12</a:t>
            </a:fld>
            <a:endParaRPr lang="en-US"/>
          </a:p>
        </p:txBody>
      </p:sp>
    </p:spTree>
    <p:extLst>
      <p:ext uri="{BB962C8B-B14F-4D97-AF65-F5344CB8AC3E}">
        <p14:creationId xmlns:p14="http://schemas.microsoft.com/office/powerpoint/2010/main" val="15925620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3DE17-6283-2EBF-5F10-F2C6343990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C86B08-B571-755F-37C5-28FA02E10E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4AF08E-8356-19A6-1F80-ED32BD48FB99}"/>
              </a:ext>
            </a:extLst>
          </p:cNvPr>
          <p:cNvSpPr>
            <a:spLocks noGrp="1"/>
          </p:cNvSpPr>
          <p:nvPr>
            <p:ph type="body" idx="1"/>
          </p:nvPr>
        </p:nvSpPr>
        <p:spPr/>
        <p:txBody>
          <a:bodyPr/>
          <a:lstStyle/>
          <a:p>
            <a:r>
              <a:rPr lang="vi-VN" dirty="0"/>
              <a:t>Sau khi xây dựng xong hệ thống, em tiến hành kiểm thử cả backend và frontend.</a:t>
            </a:r>
            <a:br>
              <a:rPr lang="vi-VN" dirty="0"/>
            </a:br>
            <a:r>
              <a:rPr lang="vi-VN" dirty="0"/>
              <a:t>Backend được kiểm thử thông qua công cụ Postman để đảm bảo các API hoạt động đúng.</a:t>
            </a:r>
            <a:br>
              <a:rPr lang="vi-VN" dirty="0"/>
            </a:br>
            <a:r>
              <a:rPr lang="vi-VN" dirty="0"/>
              <a:t>Frontend được kiểm thử trực tiếp trên trình duyệt.</a:t>
            </a:r>
            <a:br>
              <a:rPr lang="vi-VN" dirty="0"/>
            </a:br>
            <a:r>
              <a:rPr lang="vi-VN" dirty="0"/>
              <a:t>Kết quả cho thấy hệ thống hoạt động ổn định và đáp ứng các yêu cầu đã đề ra.</a:t>
            </a:r>
          </a:p>
        </p:txBody>
      </p:sp>
      <p:sp>
        <p:nvSpPr>
          <p:cNvPr id="4" name="Slide Number Placeholder 3">
            <a:extLst>
              <a:ext uri="{FF2B5EF4-FFF2-40B4-BE49-F238E27FC236}">
                <a16:creationId xmlns:a16="http://schemas.microsoft.com/office/drawing/2014/main" id="{896A041D-7D96-91A4-55A6-004FCF980459}"/>
              </a:ext>
            </a:extLst>
          </p:cNvPr>
          <p:cNvSpPr>
            <a:spLocks noGrp="1"/>
          </p:cNvSpPr>
          <p:nvPr>
            <p:ph type="sldNum" sz="quarter" idx="5"/>
          </p:nvPr>
        </p:nvSpPr>
        <p:spPr/>
        <p:txBody>
          <a:bodyPr/>
          <a:lstStyle/>
          <a:p>
            <a:fld id="{FC69D227-5E70-4EC0-A120-4F7BD2776162}" type="slidenum">
              <a:rPr lang="en-US" smtClean="0"/>
              <a:t>13</a:t>
            </a:fld>
            <a:endParaRPr lang="en-US"/>
          </a:p>
        </p:txBody>
      </p:sp>
    </p:spTree>
    <p:extLst>
      <p:ext uri="{BB962C8B-B14F-4D97-AF65-F5344CB8AC3E}">
        <p14:creationId xmlns:p14="http://schemas.microsoft.com/office/powerpoint/2010/main" val="1592346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2F479-4798-8981-22E8-F692F58C9A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81DDE-EA6A-9DAE-EBC4-207449CDD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B30938-A153-4022-3FE8-D89FCCE8DC7C}"/>
              </a:ext>
            </a:extLst>
          </p:cNvPr>
          <p:cNvSpPr>
            <a:spLocks noGrp="1"/>
          </p:cNvSpPr>
          <p:nvPr>
            <p:ph type="body" idx="1"/>
          </p:nvPr>
        </p:nvSpPr>
        <p:spPr/>
        <p:txBody>
          <a:bodyPr/>
          <a:lstStyle/>
          <a:p>
            <a:r>
              <a:rPr lang="vi-VN" dirty="0"/>
              <a:t>Sau khi xây dựng xong hệ thống, em tiến hành kiểm thử cả backend và frontend.</a:t>
            </a:r>
            <a:br>
              <a:rPr lang="vi-VN" dirty="0"/>
            </a:br>
            <a:r>
              <a:rPr lang="vi-VN" dirty="0"/>
              <a:t>Backend được kiểm thử thông qua công cụ Postman để đảm bảo các API hoạt động đúng.</a:t>
            </a:r>
            <a:br>
              <a:rPr lang="vi-VN" dirty="0"/>
            </a:br>
            <a:r>
              <a:rPr lang="vi-VN" dirty="0"/>
              <a:t>Frontend được kiểm thử trực tiếp trên trình duyệt.</a:t>
            </a:r>
            <a:br>
              <a:rPr lang="vi-VN" dirty="0"/>
            </a:br>
            <a:r>
              <a:rPr lang="vi-VN" dirty="0"/>
              <a:t>Kết quả cho thấy hệ thống hoạt động ổn định và đáp ứng các yêu cầu đã đề ra.</a:t>
            </a:r>
          </a:p>
        </p:txBody>
      </p:sp>
      <p:sp>
        <p:nvSpPr>
          <p:cNvPr id="4" name="Slide Number Placeholder 3">
            <a:extLst>
              <a:ext uri="{FF2B5EF4-FFF2-40B4-BE49-F238E27FC236}">
                <a16:creationId xmlns:a16="http://schemas.microsoft.com/office/drawing/2014/main" id="{3C290C55-2633-ADC3-613F-A0E6C45CD63C}"/>
              </a:ext>
            </a:extLst>
          </p:cNvPr>
          <p:cNvSpPr>
            <a:spLocks noGrp="1"/>
          </p:cNvSpPr>
          <p:nvPr>
            <p:ph type="sldNum" sz="quarter" idx="5"/>
          </p:nvPr>
        </p:nvSpPr>
        <p:spPr/>
        <p:txBody>
          <a:bodyPr/>
          <a:lstStyle/>
          <a:p>
            <a:fld id="{FC69D227-5E70-4EC0-A120-4F7BD2776162}" type="slidenum">
              <a:rPr lang="en-US" smtClean="0"/>
              <a:t>14</a:t>
            </a:fld>
            <a:endParaRPr lang="en-US"/>
          </a:p>
        </p:txBody>
      </p:sp>
    </p:spTree>
    <p:extLst>
      <p:ext uri="{BB962C8B-B14F-4D97-AF65-F5344CB8AC3E}">
        <p14:creationId xmlns:p14="http://schemas.microsoft.com/office/powerpoint/2010/main" val="32166721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691FF-9943-2FC2-8843-E8F1D430D7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15E89-4A12-4F36-B06F-2BDA8EA045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7C445D-635C-4868-3E4B-9962B011070A}"/>
              </a:ext>
            </a:extLst>
          </p:cNvPr>
          <p:cNvSpPr>
            <a:spLocks noGrp="1"/>
          </p:cNvSpPr>
          <p:nvPr>
            <p:ph type="body" idx="1"/>
          </p:nvPr>
        </p:nvSpPr>
        <p:spPr/>
        <p:txBody>
          <a:bodyPr/>
          <a:lstStyle/>
          <a:p>
            <a:r>
              <a:rPr lang="vi-VN" dirty="0"/>
              <a:t>Sau khi xây dựng xong hệ thống, em tiến hành kiểm thử cả backend và frontend.</a:t>
            </a:r>
            <a:br>
              <a:rPr lang="vi-VN" dirty="0"/>
            </a:br>
            <a:r>
              <a:rPr lang="vi-VN" dirty="0"/>
              <a:t>Backend được kiểm thử thông qua công cụ Postman để đảm bảo các API hoạt động đúng.</a:t>
            </a:r>
            <a:br>
              <a:rPr lang="vi-VN" dirty="0"/>
            </a:br>
            <a:r>
              <a:rPr lang="vi-VN" dirty="0"/>
              <a:t>Frontend được kiểm thử trực tiếp trên trình duyệt.</a:t>
            </a:r>
            <a:br>
              <a:rPr lang="vi-VN" dirty="0"/>
            </a:br>
            <a:r>
              <a:rPr lang="vi-VN" dirty="0"/>
              <a:t>Kết quả cho thấy hệ thống hoạt động ổn định và đáp ứng các yêu cầu đã đề ra.</a:t>
            </a:r>
          </a:p>
        </p:txBody>
      </p:sp>
      <p:sp>
        <p:nvSpPr>
          <p:cNvPr id="4" name="Slide Number Placeholder 3">
            <a:extLst>
              <a:ext uri="{FF2B5EF4-FFF2-40B4-BE49-F238E27FC236}">
                <a16:creationId xmlns:a16="http://schemas.microsoft.com/office/drawing/2014/main" id="{A940235E-9A20-FBB9-3267-3871F6533F09}"/>
              </a:ext>
            </a:extLst>
          </p:cNvPr>
          <p:cNvSpPr>
            <a:spLocks noGrp="1"/>
          </p:cNvSpPr>
          <p:nvPr>
            <p:ph type="sldNum" sz="quarter" idx="5"/>
          </p:nvPr>
        </p:nvSpPr>
        <p:spPr/>
        <p:txBody>
          <a:bodyPr/>
          <a:lstStyle/>
          <a:p>
            <a:fld id="{FC69D227-5E70-4EC0-A120-4F7BD2776162}" type="slidenum">
              <a:rPr lang="en-US" smtClean="0"/>
              <a:t>15</a:t>
            </a:fld>
            <a:endParaRPr lang="en-US"/>
          </a:p>
        </p:txBody>
      </p:sp>
    </p:spTree>
    <p:extLst>
      <p:ext uri="{BB962C8B-B14F-4D97-AF65-F5344CB8AC3E}">
        <p14:creationId xmlns:p14="http://schemas.microsoft.com/office/powerpoint/2010/main" val="33101199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B42B7-2DEF-756F-9B91-05A5D4D8C0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A4878-DBEA-1DFB-26C4-92ACB01EDE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BD1865-0CA2-1A88-B0AA-1777E1847E1A}"/>
              </a:ext>
            </a:extLst>
          </p:cNvPr>
          <p:cNvSpPr>
            <a:spLocks noGrp="1"/>
          </p:cNvSpPr>
          <p:nvPr>
            <p:ph type="body" idx="1"/>
          </p:nvPr>
        </p:nvSpPr>
        <p:spPr/>
        <p:txBody>
          <a:bodyPr/>
          <a:lstStyle/>
          <a:p>
            <a:r>
              <a:rPr lang="vi-VN" dirty="0"/>
              <a:t>Kết quả của đề tài là xây dựng thành công một website quản lý thông tin đơn vị thực tập.</a:t>
            </a:r>
            <a:br>
              <a:rPr lang="vi-VN" dirty="0"/>
            </a:br>
            <a:r>
              <a:rPr lang="vi-VN" dirty="0"/>
              <a:t>Hệ thống giúp quản lý dữ liệu tập trung, hỗ trợ tốt cho công tác quản lý và tra cứu thông tin.</a:t>
            </a:r>
            <a:br>
              <a:rPr lang="vi-VN" dirty="0"/>
            </a:br>
            <a:r>
              <a:rPr lang="vi-VN" dirty="0"/>
              <a:t>Đề tài đáp ứng đầy đủ các mục tiêu ban đầu và có khả năng ứng dụng thực tế trong Khoa.</a:t>
            </a:r>
          </a:p>
        </p:txBody>
      </p:sp>
      <p:sp>
        <p:nvSpPr>
          <p:cNvPr id="4" name="Slide Number Placeholder 3">
            <a:extLst>
              <a:ext uri="{FF2B5EF4-FFF2-40B4-BE49-F238E27FC236}">
                <a16:creationId xmlns:a16="http://schemas.microsoft.com/office/drawing/2014/main" id="{B5275DC1-8541-6EF7-E9AD-33FD5B753118}"/>
              </a:ext>
            </a:extLst>
          </p:cNvPr>
          <p:cNvSpPr>
            <a:spLocks noGrp="1"/>
          </p:cNvSpPr>
          <p:nvPr>
            <p:ph type="sldNum" sz="quarter" idx="5"/>
          </p:nvPr>
        </p:nvSpPr>
        <p:spPr/>
        <p:txBody>
          <a:bodyPr/>
          <a:lstStyle/>
          <a:p>
            <a:fld id="{FC69D227-5E70-4EC0-A120-4F7BD2776162}" type="slidenum">
              <a:rPr lang="en-US" smtClean="0"/>
              <a:t>16</a:t>
            </a:fld>
            <a:endParaRPr lang="en-US"/>
          </a:p>
        </p:txBody>
      </p:sp>
    </p:spTree>
    <p:extLst>
      <p:ext uri="{BB962C8B-B14F-4D97-AF65-F5344CB8AC3E}">
        <p14:creationId xmlns:p14="http://schemas.microsoft.com/office/powerpoint/2010/main" val="29072253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ABCE1-3479-EA26-B572-3A1760C9B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4FAD07-BA6F-E6E2-72F1-B08733586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D04EAA-FA7F-6AB0-7254-99B3B997EF5D}"/>
              </a:ext>
            </a:extLst>
          </p:cNvPr>
          <p:cNvSpPr>
            <a:spLocks noGrp="1"/>
          </p:cNvSpPr>
          <p:nvPr>
            <p:ph type="body" idx="1"/>
          </p:nvPr>
        </p:nvSpPr>
        <p:spPr/>
        <p:txBody>
          <a:bodyPr/>
          <a:lstStyle/>
          <a:p>
            <a:r>
              <a:rPr lang="vi-VN" dirty="0"/>
              <a:t>Bên cạnh những kết quả đạt được, hệ thống vẫn còn một số hạn chế như chưa hỗ trợ đăng ký thực tập trực tuyến và chưa có ứng dụng di động riêng.</a:t>
            </a:r>
            <a:br>
              <a:rPr lang="vi-VN" dirty="0"/>
            </a:br>
            <a:r>
              <a:rPr lang="vi-VN" dirty="0"/>
              <a:t>Trong tương lai, hệ thống có thể được mở rộng thêm các chức năng quản lý thực tập, tích hợp với hệ thống đào tạo của nhà trường và nâng cao tính bảo mật.</a:t>
            </a:r>
          </a:p>
        </p:txBody>
      </p:sp>
      <p:sp>
        <p:nvSpPr>
          <p:cNvPr id="4" name="Slide Number Placeholder 3">
            <a:extLst>
              <a:ext uri="{FF2B5EF4-FFF2-40B4-BE49-F238E27FC236}">
                <a16:creationId xmlns:a16="http://schemas.microsoft.com/office/drawing/2014/main" id="{36CE4997-91EA-B669-7AE4-ECC6FD445099}"/>
              </a:ext>
            </a:extLst>
          </p:cNvPr>
          <p:cNvSpPr>
            <a:spLocks noGrp="1"/>
          </p:cNvSpPr>
          <p:nvPr>
            <p:ph type="sldNum" sz="quarter" idx="5"/>
          </p:nvPr>
        </p:nvSpPr>
        <p:spPr/>
        <p:txBody>
          <a:bodyPr/>
          <a:lstStyle/>
          <a:p>
            <a:fld id="{FC69D227-5E70-4EC0-A120-4F7BD2776162}" type="slidenum">
              <a:rPr lang="en-US" smtClean="0"/>
              <a:t>17</a:t>
            </a:fld>
            <a:endParaRPr lang="en-US"/>
          </a:p>
        </p:txBody>
      </p:sp>
    </p:spTree>
    <p:extLst>
      <p:ext uri="{BB962C8B-B14F-4D97-AF65-F5344CB8AC3E}">
        <p14:creationId xmlns:p14="http://schemas.microsoft.com/office/powerpoint/2010/main" val="32981528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A860A-E2A6-4655-1307-6E51DE45D9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4D7CA-96F5-1B9F-9082-139F5EC0B5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18F1A-8988-B488-1AE7-89BEA9932338}"/>
              </a:ext>
            </a:extLst>
          </p:cNvPr>
          <p:cNvSpPr>
            <a:spLocks noGrp="1"/>
          </p:cNvSpPr>
          <p:nvPr>
            <p:ph type="body" idx="1"/>
          </p:nvPr>
        </p:nvSpPr>
        <p:spPr/>
        <p:txBody>
          <a:bodyPr/>
          <a:lstStyle/>
          <a:p>
            <a:r>
              <a:rPr lang="vi-VN" dirty="0"/>
              <a:t>Cuối cùng, em xin chân thành cảm ơn quý Thầy, Cô Khoa Công nghệ Thông tin, đặc biệt là </a:t>
            </a:r>
            <a:r>
              <a:rPr lang="vi-VN" b="1" dirty="0"/>
              <a:t>Thầy Võ Thành C</a:t>
            </a:r>
            <a:r>
              <a:rPr lang="vi-VN" dirty="0"/>
              <a:t> đã tận tình hướng dẫn em trong suốt quá trình thực hiện đồ án.</a:t>
            </a:r>
            <a:br>
              <a:rPr lang="vi-VN" dirty="0"/>
            </a:br>
            <a:r>
              <a:rPr lang="vi-VN" dirty="0"/>
              <a:t>Em xin cảm ơn </a:t>
            </a:r>
            <a:r>
              <a:rPr lang="en-US" dirty="0" err="1"/>
              <a:t>quý</a:t>
            </a:r>
            <a:r>
              <a:rPr lang="en-US" dirty="0"/>
              <a:t> </a:t>
            </a:r>
            <a:r>
              <a:rPr lang="en-US" dirty="0" err="1"/>
              <a:t>Thầy</a:t>
            </a:r>
            <a:r>
              <a:rPr lang="en-US" dirty="0"/>
              <a:t>, </a:t>
            </a:r>
            <a:r>
              <a:rPr lang="en-US" dirty="0" err="1"/>
              <a:t>Cô</a:t>
            </a:r>
            <a:r>
              <a:rPr lang="en-US" dirty="0"/>
              <a:t> </a:t>
            </a:r>
            <a:r>
              <a:rPr lang="en-US" dirty="0" err="1"/>
              <a:t>đã</a:t>
            </a:r>
            <a:r>
              <a:rPr lang="en-US" dirty="0"/>
              <a:t> </a:t>
            </a:r>
            <a:r>
              <a:rPr lang="en-US" dirty="0" err="1"/>
              <a:t>lắng</a:t>
            </a:r>
            <a:r>
              <a:rPr lang="en-US" dirty="0"/>
              <a:t> </a:t>
            </a:r>
            <a:r>
              <a:rPr lang="en-US" dirty="0" err="1"/>
              <a:t>nghe</a:t>
            </a:r>
            <a:r>
              <a:rPr lang="en-US" dirty="0"/>
              <a:t> </a:t>
            </a:r>
            <a:r>
              <a:rPr lang="en-US" dirty="0" err="1"/>
              <a:t>bài</a:t>
            </a:r>
            <a:r>
              <a:rPr lang="en-US" dirty="0"/>
              <a:t> </a:t>
            </a:r>
            <a:r>
              <a:rPr lang="en-US" dirty="0" err="1"/>
              <a:t>thuyết</a:t>
            </a:r>
            <a:r>
              <a:rPr lang="en-US" dirty="0"/>
              <a:t> </a:t>
            </a:r>
            <a:r>
              <a:rPr lang="en-US" dirty="0" err="1"/>
              <a:t>trình</a:t>
            </a:r>
            <a:r>
              <a:rPr lang="en-US" dirty="0"/>
              <a:t> </a:t>
            </a:r>
            <a:r>
              <a:rPr lang="en-US" dirty="0" err="1"/>
              <a:t>của</a:t>
            </a:r>
            <a:r>
              <a:rPr lang="en-US" dirty="0"/>
              <a:t> </a:t>
            </a:r>
            <a:r>
              <a:rPr lang="en-US" dirty="0" err="1"/>
              <a:t>em</a:t>
            </a:r>
            <a:r>
              <a:rPr lang="vi-VN" dirty="0"/>
              <a:t>.</a:t>
            </a:r>
            <a:br>
              <a:rPr lang="vi-VN" dirty="0"/>
            </a:br>
            <a:r>
              <a:rPr lang="vi-VN" dirty="0"/>
              <a:t>Em xin trân trọng </a:t>
            </a:r>
            <a:r>
              <a:rPr lang="vi-VN"/>
              <a:t>cảm ơn.</a:t>
            </a:r>
            <a:endParaRPr lang="vi-VN" dirty="0"/>
          </a:p>
        </p:txBody>
      </p:sp>
      <p:sp>
        <p:nvSpPr>
          <p:cNvPr id="4" name="Slide Number Placeholder 3">
            <a:extLst>
              <a:ext uri="{FF2B5EF4-FFF2-40B4-BE49-F238E27FC236}">
                <a16:creationId xmlns:a16="http://schemas.microsoft.com/office/drawing/2014/main" id="{69D9F7A0-241C-556F-15F9-3E624A1A4446}"/>
              </a:ext>
            </a:extLst>
          </p:cNvPr>
          <p:cNvSpPr>
            <a:spLocks noGrp="1"/>
          </p:cNvSpPr>
          <p:nvPr>
            <p:ph type="sldNum" sz="quarter" idx="5"/>
          </p:nvPr>
        </p:nvSpPr>
        <p:spPr/>
        <p:txBody>
          <a:bodyPr/>
          <a:lstStyle/>
          <a:p>
            <a:fld id="{FC69D227-5E70-4EC0-A120-4F7BD2776162}" type="slidenum">
              <a:rPr lang="en-US" smtClean="0"/>
              <a:t>18</a:t>
            </a:fld>
            <a:endParaRPr lang="en-US"/>
          </a:p>
        </p:txBody>
      </p:sp>
    </p:spTree>
    <p:extLst>
      <p:ext uri="{BB962C8B-B14F-4D97-AF65-F5344CB8AC3E}">
        <p14:creationId xmlns:p14="http://schemas.microsoft.com/office/powerpoint/2010/main" val="92350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85158A-8D32-4A67-B35E-487362CE60AD}" type="datetime1">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3352800" cy="365125"/>
          </a:xfrm>
        </p:spPr>
        <p:txBody>
          <a:bodyPr/>
          <a:lstStyle>
            <a:lvl1pPr>
              <a:defRPr sz="1800">
                <a:solidFill>
                  <a:schemeClr val="bg1"/>
                </a:solidFill>
                <a:latin typeface="Bahnschrift" panose="020B0502040204020203" pitchFamily="34" charset="0"/>
              </a:defRPr>
            </a:lvl1pPr>
          </a:lstStyle>
          <a:p>
            <a:fld id="{8EF1165B-0F1E-4C09-B047-A6274DCC401D}" type="slidenum">
              <a:rPr lang="en-US" smtClean="0"/>
              <a:pPr/>
              <a:t>‹#›</a:t>
            </a:fld>
            <a:endParaRPr lang="en-US" sz="1800" dirty="0"/>
          </a:p>
        </p:txBody>
      </p:sp>
    </p:spTree>
    <p:extLst>
      <p:ext uri="{BB962C8B-B14F-4D97-AF65-F5344CB8AC3E}">
        <p14:creationId xmlns:p14="http://schemas.microsoft.com/office/powerpoint/2010/main" val="1020539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34B0AC-D274-41D3-8755-3BDFD99785CB}" type="datetime1">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F1165B-0F1E-4C09-B047-A6274DCC401D}" type="slidenum">
              <a:rPr lang="en-US" smtClean="0"/>
              <a:t>‹#›</a:t>
            </a:fld>
            <a:endParaRPr lang="en-US"/>
          </a:p>
        </p:txBody>
      </p:sp>
    </p:spTree>
    <p:extLst>
      <p:ext uri="{BB962C8B-B14F-4D97-AF65-F5344CB8AC3E}">
        <p14:creationId xmlns:p14="http://schemas.microsoft.com/office/powerpoint/2010/main" val="2728733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76BFA4-A745-4FC1-8672-467DD8064661}" type="datetime1">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F1165B-0F1E-4C09-B047-A6274DCC401D}" type="slidenum">
              <a:rPr lang="en-US" smtClean="0"/>
              <a:t>‹#›</a:t>
            </a:fld>
            <a:endParaRPr lang="en-US"/>
          </a:p>
        </p:txBody>
      </p:sp>
    </p:spTree>
    <p:extLst>
      <p:ext uri="{BB962C8B-B14F-4D97-AF65-F5344CB8AC3E}">
        <p14:creationId xmlns:p14="http://schemas.microsoft.com/office/powerpoint/2010/main" val="2583810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F49369-7383-4185-AABC-D946FE2623A5}" type="datetime1">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F1165B-0F1E-4C09-B047-A6274DCC401D}" type="slidenum">
              <a:rPr lang="en-US" smtClean="0"/>
              <a:t>‹#›</a:t>
            </a:fld>
            <a:endParaRPr lang="en-US"/>
          </a:p>
        </p:txBody>
      </p:sp>
    </p:spTree>
    <p:extLst>
      <p:ext uri="{BB962C8B-B14F-4D97-AF65-F5344CB8AC3E}">
        <p14:creationId xmlns:p14="http://schemas.microsoft.com/office/powerpoint/2010/main" val="127345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067F79-12C4-4E1C-A5F6-891291EC97C7}" type="datetime1">
              <a:rPr lang="en-US" smtClean="0"/>
              <a:t>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F1165B-0F1E-4C09-B047-A6274DCC401D}" type="slidenum">
              <a:rPr lang="en-US" smtClean="0"/>
              <a:t>‹#›</a:t>
            </a:fld>
            <a:endParaRPr lang="en-US"/>
          </a:p>
        </p:txBody>
      </p:sp>
    </p:spTree>
    <p:extLst>
      <p:ext uri="{BB962C8B-B14F-4D97-AF65-F5344CB8AC3E}">
        <p14:creationId xmlns:p14="http://schemas.microsoft.com/office/powerpoint/2010/main" val="2486891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CBD6FC-AD85-4BE3-A154-3CC62AA1EDED}" type="datetime1">
              <a:rPr lang="en-US" smtClean="0"/>
              <a:t>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F1165B-0F1E-4C09-B047-A6274DCC401D}" type="slidenum">
              <a:rPr lang="en-US" smtClean="0"/>
              <a:t>‹#›</a:t>
            </a:fld>
            <a:endParaRPr lang="en-US"/>
          </a:p>
        </p:txBody>
      </p:sp>
    </p:spTree>
    <p:extLst>
      <p:ext uri="{BB962C8B-B14F-4D97-AF65-F5344CB8AC3E}">
        <p14:creationId xmlns:p14="http://schemas.microsoft.com/office/powerpoint/2010/main" val="2769573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B51852-BA85-428D-9210-41F03D5830ED}" type="datetime1">
              <a:rPr lang="en-US" smtClean="0"/>
              <a:t>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EF1165B-0F1E-4C09-B047-A6274DCC401D}" type="slidenum">
              <a:rPr lang="en-US" smtClean="0"/>
              <a:t>‹#›</a:t>
            </a:fld>
            <a:endParaRPr lang="en-US"/>
          </a:p>
        </p:txBody>
      </p:sp>
    </p:spTree>
    <p:extLst>
      <p:ext uri="{BB962C8B-B14F-4D97-AF65-F5344CB8AC3E}">
        <p14:creationId xmlns:p14="http://schemas.microsoft.com/office/powerpoint/2010/main" val="740568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2BC843-B356-4CCF-8E54-5B1BD1A5F052}" type="datetime1">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F1165B-0F1E-4C09-B047-A6274DCC401D}" type="slidenum">
              <a:rPr lang="en-US" smtClean="0"/>
              <a:t>‹#›</a:t>
            </a:fld>
            <a:endParaRPr lang="en-US"/>
          </a:p>
        </p:txBody>
      </p:sp>
    </p:spTree>
    <p:extLst>
      <p:ext uri="{BB962C8B-B14F-4D97-AF65-F5344CB8AC3E}">
        <p14:creationId xmlns:p14="http://schemas.microsoft.com/office/powerpoint/2010/main" val="2244405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D23D91B-B8DC-43D0-B40D-F1BCC3944E87}" type="datetime1">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F1165B-0F1E-4C09-B047-A6274DCC401D}" type="slidenum">
              <a:rPr lang="en-US" smtClean="0"/>
              <a:t>‹#›</a:t>
            </a:fld>
            <a:endParaRPr lang="en-US"/>
          </a:p>
        </p:txBody>
      </p:sp>
    </p:spTree>
    <p:extLst>
      <p:ext uri="{BB962C8B-B14F-4D97-AF65-F5344CB8AC3E}">
        <p14:creationId xmlns:p14="http://schemas.microsoft.com/office/powerpoint/2010/main" val="2526044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DC91FC-4C5C-4D22-AAEC-F7490766D6D5}" type="datetime1">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F1165B-0F1E-4C09-B047-A6274DCC401D}" type="slidenum">
              <a:rPr lang="en-US" smtClean="0"/>
              <a:t>‹#›</a:t>
            </a:fld>
            <a:endParaRPr lang="en-US"/>
          </a:p>
        </p:txBody>
      </p:sp>
    </p:spTree>
    <p:extLst>
      <p:ext uri="{BB962C8B-B14F-4D97-AF65-F5344CB8AC3E}">
        <p14:creationId xmlns:p14="http://schemas.microsoft.com/office/powerpoint/2010/main" val="717267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D3C4C8-2030-4896-9D93-56C98253B229}" type="datetime1">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F1165B-0F1E-4C09-B047-A6274DCC401D}" type="slidenum">
              <a:rPr lang="en-US" smtClean="0"/>
              <a:t>‹#›</a:t>
            </a:fld>
            <a:endParaRPr lang="en-US"/>
          </a:p>
        </p:txBody>
      </p:sp>
    </p:spTree>
    <p:extLst>
      <p:ext uri="{BB962C8B-B14F-4D97-AF65-F5344CB8AC3E}">
        <p14:creationId xmlns:p14="http://schemas.microsoft.com/office/powerpoint/2010/main" val="691745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extLst>
              <a:ext uri="{BEBA8EAE-BF5A-486C-A8C5-ECC9F3942E4B}">
                <a14:imgProps xmlns:a14="http://schemas.microsoft.com/office/drawing/2010/main">
                  <a14:imgLayer r:embed="rId14">
                    <a14:imgEffect>
                      <a14:brightnessContrast contrast="4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B163A1-6EC0-49AB-854F-90023A8B14C4}" type="datetime1">
              <a:rPr lang="en-US" smtClean="0"/>
              <a:t>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F1165B-0F1E-4C09-B047-A6274DCC401D}" type="slidenum">
              <a:rPr lang="en-US" smtClean="0"/>
              <a:t>‹#›</a:t>
            </a:fld>
            <a:endParaRPr lang="en-US"/>
          </a:p>
        </p:txBody>
      </p:sp>
    </p:spTree>
    <p:extLst>
      <p:ext uri="{BB962C8B-B14F-4D97-AF65-F5344CB8AC3E}">
        <p14:creationId xmlns:p14="http://schemas.microsoft.com/office/powerpoint/2010/main" val="7854033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CA9ACDA-5C24-EEE5-1CA7-448C11D30685}"/>
              </a:ext>
            </a:extLst>
          </p:cNvPr>
          <p:cNvSpPr txBox="1"/>
          <p:nvPr/>
        </p:nvSpPr>
        <p:spPr>
          <a:xfrm>
            <a:off x="0" y="136434"/>
            <a:ext cx="12192000" cy="1538883"/>
          </a:xfrm>
          <a:prstGeom prst="rect">
            <a:avLst/>
          </a:prstGeom>
          <a:noFill/>
        </p:spPr>
        <p:txBody>
          <a:bodyPr wrap="square" rtlCol="0">
            <a:spAutoFit/>
          </a:bodyPr>
          <a:lstStyle/>
          <a:p>
            <a:pPr algn="ctr">
              <a:spcBef>
                <a:spcPts val="300"/>
              </a:spcBef>
              <a:spcAft>
                <a:spcPts val="300"/>
              </a:spcAft>
            </a:pP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TRƯỜNG ĐẠI HỌC TRÀ VINH</a:t>
            </a:r>
          </a:p>
          <a:p>
            <a:pPr algn="ctr">
              <a:spcBef>
                <a:spcPts val="300"/>
              </a:spcBef>
              <a:spcAft>
                <a:spcPts val="300"/>
              </a:spcAft>
            </a:pP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TRƯỜNG KỸ THUẬT VÀ CÔNG NGHỆ</a:t>
            </a:r>
          </a:p>
          <a:p>
            <a:pPr algn="ctr">
              <a:spcBef>
                <a:spcPts val="300"/>
              </a:spcBef>
              <a:spcAft>
                <a:spcPts val="300"/>
              </a:spcAft>
            </a:pP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KHOA CÔNG NGHỆ THÔNG TIN</a:t>
            </a:r>
          </a:p>
        </p:txBody>
      </p:sp>
      <p:sp>
        <p:nvSpPr>
          <p:cNvPr id="8" name="TextBox 7">
            <a:extLst>
              <a:ext uri="{FF2B5EF4-FFF2-40B4-BE49-F238E27FC236}">
                <a16:creationId xmlns:a16="http://schemas.microsoft.com/office/drawing/2014/main" id="{C98EF91C-BFC0-9405-04C9-EC6747403C56}"/>
              </a:ext>
            </a:extLst>
          </p:cNvPr>
          <p:cNvSpPr txBox="1"/>
          <p:nvPr/>
        </p:nvSpPr>
        <p:spPr>
          <a:xfrm>
            <a:off x="-1" y="2220977"/>
            <a:ext cx="12192000" cy="2416046"/>
          </a:xfrm>
          <a:prstGeom prst="rect">
            <a:avLst/>
          </a:prstGeom>
          <a:noFill/>
        </p:spPr>
        <p:txBody>
          <a:bodyPr wrap="square" rtlCol="0">
            <a:spAutoFit/>
          </a:bodyPr>
          <a:lstStyle/>
          <a:p>
            <a:pPr algn="ctr">
              <a:spcBef>
                <a:spcPts val="300"/>
              </a:spcBef>
              <a:spcAft>
                <a:spcPts val="300"/>
              </a:spcAft>
            </a:pPr>
            <a:r>
              <a:rPr lang="en-US" sz="2800" b="1" dirty="0">
                <a:solidFill>
                  <a:srgbClr val="FF0000"/>
                </a:solidFill>
                <a:effectLst>
                  <a:outerShdw blurRad="38100" dist="38100" dir="2700000" algn="tl">
                    <a:srgbClr val="000000">
                      <a:alpha val="43137"/>
                    </a:srgbClr>
                  </a:outerShdw>
                </a:effectLst>
                <a:latin typeface="Bahnschrift" panose="020B0502040204020203" pitchFamily="34" charset="0"/>
              </a:rPr>
              <a:t>BÁO CÁO CHUYÊN NGÀNH</a:t>
            </a:r>
          </a:p>
          <a:p>
            <a:pPr algn="ctr">
              <a:spcBef>
                <a:spcPts val="300"/>
              </a:spcBef>
              <a:spcAft>
                <a:spcPts val="300"/>
              </a:spcAft>
            </a:pPr>
            <a:r>
              <a:rPr lang="en-US" sz="3600" b="1" dirty="0">
                <a:solidFill>
                  <a:srgbClr val="FFFF00"/>
                </a:solidFill>
                <a:effectLst>
                  <a:outerShdw blurRad="38100" dist="38100" dir="2700000" algn="tl">
                    <a:srgbClr val="000000">
                      <a:alpha val="43137"/>
                    </a:srgbClr>
                  </a:outerShdw>
                </a:effectLst>
                <a:latin typeface="Bahnschrift" panose="020B0502040204020203" pitchFamily="34" charset="0"/>
              </a:rPr>
              <a:t>XÂY DỰNG WEBSITE QUẢN LÝ </a:t>
            </a:r>
          </a:p>
          <a:p>
            <a:pPr algn="ctr">
              <a:spcBef>
                <a:spcPts val="300"/>
              </a:spcBef>
              <a:spcAft>
                <a:spcPts val="300"/>
              </a:spcAft>
            </a:pPr>
            <a:r>
              <a:rPr lang="en-US" sz="3600" b="1" dirty="0">
                <a:solidFill>
                  <a:srgbClr val="FFFF00"/>
                </a:solidFill>
                <a:effectLst>
                  <a:outerShdw blurRad="38100" dist="38100" dir="2700000" algn="tl">
                    <a:srgbClr val="000000">
                      <a:alpha val="43137"/>
                    </a:srgbClr>
                  </a:outerShdw>
                </a:effectLst>
                <a:latin typeface="Bahnschrift" panose="020B0502040204020203" pitchFamily="34" charset="0"/>
              </a:rPr>
              <a:t>THÔNG TIN ĐƠN VỊ THỰC TẬP </a:t>
            </a:r>
          </a:p>
          <a:p>
            <a:pPr algn="ctr">
              <a:spcBef>
                <a:spcPts val="300"/>
              </a:spcBef>
              <a:spcAft>
                <a:spcPts val="300"/>
              </a:spcAft>
            </a:pPr>
            <a:r>
              <a:rPr lang="en-US" sz="3600" b="1" dirty="0">
                <a:solidFill>
                  <a:srgbClr val="FFFF00"/>
                </a:solidFill>
                <a:effectLst>
                  <a:outerShdw blurRad="38100" dist="38100" dir="2700000" algn="tl">
                    <a:srgbClr val="000000">
                      <a:alpha val="43137"/>
                    </a:srgbClr>
                  </a:outerShdw>
                </a:effectLst>
                <a:latin typeface="Bahnschrift" panose="020B0502040204020203" pitchFamily="34" charset="0"/>
              </a:rPr>
              <a:t>CỦA SINH VIÊN KHOA CÔNG NGHỆ THÔNG TIN</a:t>
            </a:r>
          </a:p>
        </p:txBody>
      </p:sp>
      <p:sp>
        <p:nvSpPr>
          <p:cNvPr id="9" name="TextBox 8">
            <a:extLst>
              <a:ext uri="{FF2B5EF4-FFF2-40B4-BE49-F238E27FC236}">
                <a16:creationId xmlns:a16="http://schemas.microsoft.com/office/drawing/2014/main" id="{2E01D6DC-7191-81B0-1DA4-6E44FFC16881}"/>
              </a:ext>
            </a:extLst>
          </p:cNvPr>
          <p:cNvSpPr txBox="1"/>
          <p:nvPr/>
        </p:nvSpPr>
        <p:spPr>
          <a:xfrm>
            <a:off x="0" y="5603429"/>
            <a:ext cx="12192000" cy="1031051"/>
          </a:xfrm>
          <a:prstGeom prst="rect">
            <a:avLst/>
          </a:prstGeom>
          <a:noFill/>
        </p:spPr>
        <p:txBody>
          <a:bodyPr wrap="square" rtlCol="0">
            <a:spAutoFit/>
          </a:bodyPr>
          <a:lstStyle/>
          <a:p>
            <a:pPr algn="ctr">
              <a:spcBef>
                <a:spcPts val="300"/>
              </a:spcBef>
              <a:spcAft>
                <a:spcPts val="300"/>
              </a:spcAft>
            </a:pP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Sinh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viên</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thực</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hiện</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Nguyễn Thiên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Ân</a:t>
            </a:r>
            <a:endParaRPr lang="en-US" sz="2800" b="1" dirty="0">
              <a:solidFill>
                <a:schemeClr val="bg1"/>
              </a:solidFill>
              <a:effectLst>
                <a:outerShdw blurRad="38100" dist="38100" dir="2700000" algn="tl">
                  <a:srgbClr val="000000">
                    <a:alpha val="43137"/>
                  </a:srgbClr>
                </a:outerShdw>
              </a:effectLst>
              <a:latin typeface="Bahnschrift" panose="020B0502040204020203" pitchFamily="34" charset="0"/>
            </a:endParaRPr>
          </a:p>
          <a:p>
            <a:pPr algn="ctr">
              <a:spcBef>
                <a:spcPts val="300"/>
              </a:spcBef>
              <a:spcAft>
                <a:spcPts val="300"/>
              </a:spcAft>
            </a:pP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Giảng</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viên</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hướng</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dẫn</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ThS</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Võ Thành C</a:t>
            </a:r>
          </a:p>
        </p:txBody>
      </p:sp>
      <p:sp>
        <p:nvSpPr>
          <p:cNvPr id="3" name="Slide Number Placeholder 2">
            <a:extLst>
              <a:ext uri="{FF2B5EF4-FFF2-40B4-BE49-F238E27FC236}">
                <a16:creationId xmlns:a16="http://schemas.microsoft.com/office/drawing/2014/main" id="{94A582A6-2B3C-DEEA-0300-49E4A01D3A6E}"/>
              </a:ext>
            </a:extLst>
          </p:cNvPr>
          <p:cNvSpPr>
            <a:spLocks noGrp="1"/>
          </p:cNvSpPr>
          <p:nvPr>
            <p:ph type="sldNum" sz="quarter" idx="12"/>
          </p:nvPr>
        </p:nvSpPr>
        <p:spPr/>
        <p:txBody>
          <a:bodyPr/>
          <a:lstStyle/>
          <a:p>
            <a:fld id="{8EF1165B-0F1E-4C09-B047-A6274DCC401D}" type="slidenum">
              <a:rPr lang="en-US" smtClean="0"/>
              <a:t>1</a:t>
            </a:fld>
            <a:endParaRPr lang="en-US"/>
          </a:p>
        </p:txBody>
      </p:sp>
      <p:grpSp>
        <p:nvGrpSpPr>
          <p:cNvPr id="7" name="Group 6">
            <a:extLst>
              <a:ext uri="{FF2B5EF4-FFF2-40B4-BE49-F238E27FC236}">
                <a16:creationId xmlns:a16="http://schemas.microsoft.com/office/drawing/2014/main" id="{FA7DCA1A-A017-325A-8740-3374F2C0EF31}"/>
              </a:ext>
            </a:extLst>
          </p:cNvPr>
          <p:cNvGrpSpPr/>
          <p:nvPr/>
        </p:nvGrpSpPr>
        <p:grpSpPr>
          <a:xfrm>
            <a:off x="1177769" y="0"/>
            <a:ext cx="1644940" cy="1803634"/>
            <a:chOff x="-2069014" y="1496157"/>
            <a:chExt cx="1644940" cy="1803634"/>
          </a:xfrm>
        </p:grpSpPr>
        <p:sp>
          <p:nvSpPr>
            <p:cNvPr id="4" name="Arrow: Pentagon 3">
              <a:extLst>
                <a:ext uri="{FF2B5EF4-FFF2-40B4-BE49-F238E27FC236}">
                  <a16:creationId xmlns:a16="http://schemas.microsoft.com/office/drawing/2014/main" id="{666DE702-66A2-2E19-A401-33EB3784B3D2}"/>
                </a:ext>
              </a:extLst>
            </p:cNvPr>
            <p:cNvSpPr/>
            <p:nvPr/>
          </p:nvSpPr>
          <p:spPr>
            <a:xfrm rot="5400000">
              <a:off x="-2148361" y="1575504"/>
              <a:ext cx="1803634" cy="1644940"/>
            </a:xfrm>
            <a:prstGeom prst="homePlat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reeform 13">
              <a:extLst>
                <a:ext uri="{FF2B5EF4-FFF2-40B4-BE49-F238E27FC236}">
                  <a16:creationId xmlns:a16="http://schemas.microsoft.com/office/drawing/2014/main" id="{689B18BE-3A7C-9310-6F28-4CC02C9D2123}"/>
                </a:ext>
              </a:extLst>
            </p:cNvPr>
            <p:cNvSpPr/>
            <p:nvPr/>
          </p:nvSpPr>
          <p:spPr>
            <a:xfrm>
              <a:off x="-1810372" y="1675317"/>
              <a:ext cx="1127656" cy="1124346"/>
            </a:xfrm>
            <a:custGeom>
              <a:avLst/>
              <a:gdLst/>
              <a:ahLst/>
              <a:cxnLst/>
              <a:rect l="l" t="t" r="r" b="b"/>
              <a:pathLst>
                <a:path w="1127656" h="1127656">
                  <a:moveTo>
                    <a:pt x="0" y="0"/>
                  </a:moveTo>
                  <a:lnTo>
                    <a:pt x="1127656" y="0"/>
                  </a:lnTo>
                  <a:lnTo>
                    <a:pt x="1127656" y="1127656"/>
                  </a:lnTo>
                  <a:lnTo>
                    <a:pt x="0" y="1127656"/>
                  </a:lnTo>
                  <a:lnTo>
                    <a:pt x="0" y="0"/>
                  </a:lnTo>
                  <a:close/>
                </a:path>
              </a:pathLst>
            </a:custGeom>
            <a:blipFill>
              <a:blip r:embed="rId3"/>
              <a:stretch>
                <a:fillRect/>
              </a:stretch>
            </a:blipFill>
          </p:spPr>
          <p:txBody>
            <a:bodyPr/>
            <a:lstStyle/>
            <a:p>
              <a:endParaRPr lang="en-US"/>
            </a:p>
          </p:txBody>
        </p:sp>
      </p:grpSp>
    </p:spTree>
    <p:extLst>
      <p:ext uri="{BB962C8B-B14F-4D97-AF65-F5344CB8AC3E}">
        <p14:creationId xmlns:p14="http://schemas.microsoft.com/office/powerpoint/2010/main" val="1553573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2" presetClass="entr" presetSubtype="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500" fill="hold"/>
                                        <p:tgtEl>
                                          <p:spTgt spid="6"/>
                                        </p:tgtEl>
                                        <p:attrNameLst>
                                          <p:attrName>ppt_x</p:attrName>
                                        </p:attrNameLst>
                                      </p:cBhvr>
                                      <p:tavLst>
                                        <p:tav tm="0">
                                          <p:val>
                                            <p:strVal val="#ppt_x"/>
                                          </p:val>
                                        </p:tav>
                                        <p:tav tm="100000">
                                          <p:val>
                                            <p:strVal val="#ppt_x"/>
                                          </p:val>
                                        </p:tav>
                                      </p:tavLst>
                                    </p:anim>
                                    <p:anim calcmode="lin" valueType="num">
                                      <p:cBhvr additive="base">
                                        <p:cTn id="11" dur="500" fill="hold"/>
                                        <p:tgtEl>
                                          <p:spTgt spid="6"/>
                                        </p:tgtEl>
                                        <p:attrNameLst>
                                          <p:attrName>ppt_y</p:attrName>
                                        </p:attrNameLst>
                                      </p:cBhvr>
                                      <p:tavLst>
                                        <p:tav tm="0">
                                          <p:val>
                                            <p:strVal val="0-#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ppt_x"/>
                                          </p:val>
                                        </p:tav>
                                        <p:tav tm="100000">
                                          <p:val>
                                            <p:strVal val="#ppt_x"/>
                                          </p:val>
                                        </p:tav>
                                      </p:tavLst>
                                    </p:anim>
                                    <p:anim calcmode="lin" valueType="num">
                                      <p:cBhvr additive="base">
                                        <p:cTn id="15" dur="500" fill="hold"/>
                                        <p:tgtEl>
                                          <p:spTgt spid="9"/>
                                        </p:tgtEl>
                                        <p:attrNameLst>
                                          <p:attrName>ppt_y</p:attrName>
                                        </p:attrNameLst>
                                      </p:cBhvr>
                                      <p:tavLst>
                                        <p:tav tm="0">
                                          <p:val>
                                            <p:strVal val="1+#ppt_h/2"/>
                                          </p:val>
                                        </p:tav>
                                        <p:tav tm="100000">
                                          <p:val>
                                            <p:strVal val="#ppt_y"/>
                                          </p:val>
                                        </p:tav>
                                      </p:tavLst>
                                    </p:anim>
                                  </p:childTnLst>
                                </p:cTn>
                              </p:par>
                              <p:par>
                                <p:cTn id="16" presetID="22" presetClass="entr" presetSubtype="1"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up)">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7C387-CB6F-8036-F539-48CB533E8DDF}"/>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92C6F47-92E4-F9A9-FA72-30C5E93A8555}"/>
              </a:ext>
            </a:extLst>
          </p:cNvPr>
          <p:cNvSpPr/>
          <p:nvPr/>
        </p:nvSpPr>
        <p:spPr>
          <a:xfrm>
            <a:off x="609601" y="841440"/>
            <a:ext cx="5314121" cy="874643"/>
          </a:xfrm>
          <a:prstGeom prst="roundRect">
            <a:avLst/>
          </a:prstGeom>
          <a:solidFill>
            <a:schemeClr val="accent1">
              <a:lumMod val="5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1. Lý do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chọn</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đề</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tài</a:t>
            </a:r>
            <a:endParaRPr lang="en-US" sz="2800" b="1"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7" name="Rectangle: Rounded Corners 6">
            <a:extLst>
              <a:ext uri="{FF2B5EF4-FFF2-40B4-BE49-F238E27FC236}">
                <a16:creationId xmlns:a16="http://schemas.microsoft.com/office/drawing/2014/main" id="{CF8844EF-1D51-F56F-4C07-AA962CEF7CD3}"/>
              </a:ext>
            </a:extLst>
          </p:cNvPr>
          <p:cNvSpPr/>
          <p:nvPr/>
        </p:nvSpPr>
        <p:spPr>
          <a:xfrm>
            <a:off x="609600" y="1887640"/>
            <a:ext cx="5314121" cy="874643"/>
          </a:xfrm>
          <a:prstGeom prst="roundRect">
            <a:avLst/>
          </a:prstGeom>
          <a:solidFill>
            <a:schemeClr val="accent1">
              <a:lumMod val="5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2. Công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nghệ</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sử</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dụng</a:t>
            </a:r>
            <a:endParaRPr lang="en-US" sz="2800" b="1"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13" name="Rectangle: Rounded Corners 12">
            <a:extLst>
              <a:ext uri="{FF2B5EF4-FFF2-40B4-BE49-F238E27FC236}">
                <a16:creationId xmlns:a16="http://schemas.microsoft.com/office/drawing/2014/main" id="{1DC3AC74-8531-F4C1-6F18-141C0AB13FEE}"/>
              </a:ext>
            </a:extLst>
          </p:cNvPr>
          <p:cNvSpPr/>
          <p:nvPr/>
        </p:nvSpPr>
        <p:spPr>
          <a:xfrm>
            <a:off x="609599" y="2933840"/>
            <a:ext cx="5314121" cy="874643"/>
          </a:xfrm>
          <a:prstGeom prst="roundRect">
            <a:avLst/>
          </a:prstGeom>
          <a:solidFill>
            <a:schemeClr val="accent1">
              <a:lumMod val="5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3.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Kiến</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trúc</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hệ</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thống</a:t>
            </a:r>
            <a:endParaRPr lang="en-US" sz="2800" b="1"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14" name="Rectangle: Rounded Corners 13">
            <a:extLst>
              <a:ext uri="{FF2B5EF4-FFF2-40B4-BE49-F238E27FC236}">
                <a16:creationId xmlns:a16="http://schemas.microsoft.com/office/drawing/2014/main" id="{894E2919-DCCC-CFCA-E639-52DE1E2B7159}"/>
              </a:ext>
            </a:extLst>
          </p:cNvPr>
          <p:cNvSpPr/>
          <p:nvPr/>
        </p:nvSpPr>
        <p:spPr>
          <a:xfrm>
            <a:off x="609598" y="3980040"/>
            <a:ext cx="5314121" cy="874643"/>
          </a:xfrm>
          <a:prstGeom prst="roundRect">
            <a:avLst/>
          </a:prstGeom>
          <a:solidFill>
            <a:schemeClr val="accent1">
              <a:lumMod val="5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4.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Phân</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tích</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yêu</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cầu</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hệ</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thống</a:t>
            </a:r>
            <a:endParaRPr lang="en-US" sz="2800" b="1"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15" name="Rectangle: Rounded Corners 14">
            <a:extLst>
              <a:ext uri="{FF2B5EF4-FFF2-40B4-BE49-F238E27FC236}">
                <a16:creationId xmlns:a16="http://schemas.microsoft.com/office/drawing/2014/main" id="{8C89672C-B2D7-907E-4139-B48DDA8557C6}"/>
              </a:ext>
            </a:extLst>
          </p:cNvPr>
          <p:cNvSpPr/>
          <p:nvPr/>
        </p:nvSpPr>
        <p:spPr>
          <a:xfrm>
            <a:off x="609597" y="5041813"/>
            <a:ext cx="5314121" cy="874643"/>
          </a:xfrm>
          <a:prstGeom prst="roundRect">
            <a:avLst/>
          </a:prstGeom>
          <a:solidFill>
            <a:schemeClr val="accent1">
              <a:lumMod val="5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5.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Sơ</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đồ</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Use Case</a:t>
            </a:r>
          </a:p>
        </p:txBody>
      </p:sp>
      <p:sp>
        <p:nvSpPr>
          <p:cNvPr id="17" name="Rectangle: Rounded Corners 16">
            <a:extLst>
              <a:ext uri="{FF2B5EF4-FFF2-40B4-BE49-F238E27FC236}">
                <a16:creationId xmlns:a16="http://schemas.microsoft.com/office/drawing/2014/main" id="{DD7AE146-979B-056C-4E12-8B6243AC66B7}"/>
              </a:ext>
            </a:extLst>
          </p:cNvPr>
          <p:cNvSpPr/>
          <p:nvPr/>
        </p:nvSpPr>
        <p:spPr>
          <a:xfrm>
            <a:off x="6308032" y="841440"/>
            <a:ext cx="5314121" cy="874643"/>
          </a:xfrm>
          <a:prstGeom prst="roundRect">
            <a:avLst/>
          </a:prstGeom>
          <a:solidFill>
            <a:schemeClr val="accent1">
              <a:lumMod val="5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6.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Sơ</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đồ</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EERD</a:t>
            </a:r>
          </a:p>
        </p:txBody>
      </p:sp>
      <p:sp>
        <p:nvSpPr>
          <p:cNvPr id="18" name="Rectangle: Rounded Corners 17">
            <a:extLst>
              <a:ext uri="{FF2B5EF4-FFF2-40B4-BE49-F238E27FC236}">
                <a16:creationId xmlns:a16="http://schemas.microsoft.com/office/drawing/2014/main" id="{7AAB6CEE-B533-24FE-796E-F09C5E146AE2}"/>
              </a:ext>
            </a:extLst>
          </p:cNvPr>
          <p:cNvSpPr/>
          <p:nvPr/>
        </p:nvSpPr>
        <p:spPr>
          <a:xfrm>
            <a:off x="6308032" y="1887640"/>
            <a:ext cx="5314121" cy="874643"/>
          </a:xfrm>
          <a:prstGeom prst="roundRect">
            <a:avLst/>
          </a:prstGeom>
          <a:solidFill>
            <a:schemeClr val="accent1">
              <a:lumMod val="5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7.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Thiết</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kế</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giao</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diện</a:t>
            </a:r>
            <a:endParaRPr lang="en-US" sz="2800" b="1"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22" name="Rectangle: Rounded Corners 21">
            <a:extLst>
              <a:ext uri="{FF2B5EF4-FFF2-40B4-BE49-F238E27FC236}">
                <a16:creationId xmlns:a16="http://schemas.microsoft.com/office/drawing/2014/main" id="{DB484C23-72F0-B7FB-CC6C-2CA2E579F451}"/>
              </a:ext>
            </a:extLst>
          </p:cNvPr>
          <p:cNvSpPr/>
          <p:nvPr/>
        </p:nvSpPr>
        <p:spPr>
          <a:xfrm>
            <a:off x="6308031" y="2930886"/>
            <a:ext cx="5314121" cy="874643"/>
          </a:xfrm>
          <a:prstGeom prst="roundRect">
            <a:avLst/>
          </a:prstGeom>
          <a:solidFill>
            <a:schemeClr val="accent1">
              <a:lumMod val="5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8.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Kiểm</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thử</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và</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đánh</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giá</a:t>
            </a:r>
            <a:endParaRPr lang="en-US" sz="2800" b="1"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23" name="Rectangle: Rounded Corners 22">
            <a:extLst>
              <a:ext uri="{FF2B5EF4-FFF2-40B4-BE49-F238E27FC236}">
                <a16:creationId xmlns:a16="http://schemas.microsoft.com/office/drawing/2014/main" id="{8C521E19-2D3C-B3EC-FAA3-4C64342E242C}"/>
              </a:ext>
            </a:extLst>
          </p:cNvPr>
          <p:cNvSpPr/>
          <p:nvPr/>
        </p:nvSpPr>
        <p:spPr>
          <a:xfrm>
            <a:off x="6308031" y="3980039"/>
            <a:ext cx="5314121" cy="874643"/>
          </a:xfrm>
          <a:prstGeom prst="roundRect">
            <a:avLst/>
          </a:prstGeom>
          <a:solidFill>
            <a:schemeClr val="accent1">
              <a:lumMod val="5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9.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Kết</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quả</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đạt</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được</a:t>
            </a:r>
            <a:endParaRPr lang="en-US" sz="2800" b="1"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24" name="Rectangle: Rounded Corners 23">
            <a:extLst>
              <a:ext uri="{FF2B5EF4-FFF2-40B4-BE49-F238E27FC236}">
                <a16:creationId xmlns:a16="http://schemas.microsoft.com/office/drawing/2014/main" id="{E4EBF91A-E472-5615-31DF-AED8D4642CCA}"/>
              </a:ext>
            </a:extLst>
          </p:cNvPr>
          <p:cNvSpPr/>
          <p:nvPr/>
        </p:nvSpPr>
        <p:spPr>
          <a:xfrm>
            <a:off x="6308031" y="5041813"/>
            <a:ext cx="5314121" cy="874643"/>
          </a:xfrm>
          <a:prstGeom prst="roundRect">
            <a:avLst/>
          </a:prstGeom>
          <a:solidFill>
            <a:schemeClr val="accent1">
              <a:lumMod val="50000"/>
            </a:schemeClr>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10.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Hạn</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chế</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và</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hướng</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phát</a:t>
            </a: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b="1" dirty="0" err="1">
                <a:solidFill>
                  <a:schemeClr val="bg1"/>
                </a:solidFill>
                <a:effectLst>
                  <a:outerShdw blurRad="38100" dist="38100" dir="2700000" algn="tl">
                    <a:srgbClr val="000000">
                      <a:alpha val="43137"/>
                    </a:srgbClr>
                  </a:outerShdw>
                </a:effectLst>
                <a:latin typeface="Bahnschrift" panose="020B0502040204020203" pitchFamily="34" charset="0"/>
              </a:rPr>
              <a:t>triển</a:t>
            </a:r>
            <a:endParaRPr lang="en-US" sz="2800" b="1"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4" name="Slide Number Placeholder 3">
            <a:extLst>
              <a:ext uri="{FF2B5EF4-FFF2-40B4-BE49-F238E27FC236}">
                <a16:creationId xmlns:a16="http://schemas.microsoft.com/office/drawing/2014/main" id="{5B2B03D9-96E0-FAC0-A54C-0D508F0A3BE3}"/>
              </a:ext>
            </a:extLst>
          </p:cNvPr>
          <p:cNvSpPr>
            <a:spLocks noGrp="1"/>
          </p:cNvSpPr>
          <p:nvPr>
            <p:ph type="sldNum" sz="quarter" idx="12"/>
          </p:nvPr>
        </p:nvSpPr>
        <p:spPr/>
        <p:txBody>
          <a:bodyPr/>
          <a:lstStyle/>
          <a:p>
            <a:fld id="{8EF1165B-0F1E-4C09-B047-A6274DCC401D}" type="slidenum">
              <a:rPr lang="en-US" smtClean="0"/>
              <a:t>2</a:t>
            </a:fld>
            <a:endParaRPr lang="en-US"/>
          </a:p>
        </p:txBody>
      </p:sp>
    </p:spTree>
    <p:extLst>
      <p:ext uri="{BB962C8B-B14F-4D97-AF65-F5344CB8AC3E}">
        <p14:creationId xmlns:p14="http://schemas.microsoft.com/office/powerpoint/2010/main" val="1558199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0-#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0-#ppt_w/2"/>
                                          </p:val>
                                        </p:tav>
                                        <p:tav tm="100000">
                                          <p:val>
                                            <p:strVal val="#ppt_x"/>
                                          </p:val>
                                        </p:tav>
                                      </p:tavLst>
                                    </p:anim>
                                    <p:anim calcmode="lin" valueType="num">
                                      <p:cBhvr additive="base">
                                        <p:cTn id="24" dur="500" fill="hold"/>
                                        <p:tgtEl>
                                          <p:spTgt spid="15"/>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1+#ppt_w/2"/>
                                          </p:val>
                                        </p:tav>
                                        <p:tav tm="100000">
                                          <p:val>
                                            <p:strVal val="#ppt_x"/>
                                          </p:val>
                                        </p:tav>
                                      </p:tavLst>
                                    </p:anim>
                                    <p:anim calcmode="lin" valueType="num">
                                      <p:cBhvr additive="base">
                                        <p:cTn id="28" dur="500" fill="hold"/>
                                        <p:tgtEl>
                                          <p:spTgt spid="17"/>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1+#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1+#ppt_w/2"/>
                                          </p:val>
                                        </p:tav>
                                        <p:tav tm="100000">
                                          <p:val>
                                            <p:strVal val="#ppt_x"/>
                                          </p:val>
                                        </p:tav>
                                      </p:tavLst>
                                    </p:anim>
                                    <p:anim calcmode="lin" valueType="num">
                                      <p:cBhvr additive="base">
                                        <p:cTn id="36" dur="500" fill="hold"/>
                                        <p:tgtEl>
                                          <p:spTgt spid="22"/>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 calcmode="lin" valueType="num">
                                      <p:cBhvr additive="base">
                                        <p:cTn id="39" dur="500" fill="hold"/>
                                        <p:tgtEl>
                                          <p:spTgt spid="24"/>
                                        </p:tgtEl>
                                        <p:attrNameLst>
                                          <p:attrName>ppt_x</p:attrName>
                                        </p:attrNameLst>
                                      </p:cBhvr>
                                      <p:tavLst>
                                        <p:tav tm="0">
                                          <p:val>
                                            <p:strVal val="1+#ppt_w/2"/>
                                          </p:val>
                                        </p:tav>
                                        <p:tav tm="100000">
                                          <p:val>
                                            <p:strVal val="#ppt_x"/>
                                          </p:val>
                                        </p:tav>
                                      </p:tavLst>
                                    </p:anim>
                                    <p:anim calcmode="lin" valueType="num">
                                      <p:cBhvr additive="base">
                                        <p:cTn id="40" dur="500" fill="hold"/>
                                        <p:tgtEl>
                                          <p:spTgt spid="24"/>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1+#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13" grpId="0" animBg="1"/>
      <p:bldP spid="14" grpId="0" animBg="1"/>
      <p:bldP spid="15" grpId="0" animBg="1"/>
      <p:bldP spid="17" grpId="0" animBg="1"/>
      <p:bldP spid="18" grpId="0" animBg="1"/>
      <p:bldP spid="22" grpId="0" animBg="1"/>
      <p:bldP spid="23" grpId="0" animBg="1"/>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FE509-6176-2E21-4C48-7EB4F1507AB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56B9C8B-DDDB-F258-441A-0CE98FE6626B}"/>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6" name="TextBox 5">
            <a:extLst>
              <a:ext uri="{FF2B5EF4-FFF2-40B4-BE49-F238E27FC236}">
                <a16:creationId xmlns:a16="http://schemas.microsoft.com/office/drawing/2014/main" id="{FAFDEC8D-60DA-1F50-E61D-64E35EAD56EA}"/>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1. Lý do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chọn</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đề</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tài</a:t>
            </a: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9" name="Rectangle 4">
            <a:extLst>
              <a:ext uri="{FF2B5EF4-FFF2-40B4-BE49-F238E27FC236}">
                <a16:creationId xmlns:a16="http://schemas.microsoft.com/office/drawing/2014/main" id="{FCCF1607-45BA-903D-92E5-6DD247301E7D}"/>
              </a:ext>
            </a:extLst>
          </p:cNvPr>
          <p:cNvSpPr>
            <a:spLocks noChangeArrowheads="1"/>
          </p:cNvSpPr>
          <p:nvPr/>
        </p:nvSpPr>
        <p:spPr bwMode="auto">
          <a:xfrm>
            <a:off x="0" y="868101"/>
            <a:ext cx="12191998" cy="5989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lvl="1" eaLnBrk="0" fontAlgn="base" hangingPunct="0">
              <a:lnSpc>
                <a:spcPct val="150000"/>
              </a:lnSpc>
              <a:spcBef>
                <a:spcPct val="0"/>
              </a:spcBef>
              <a:spcAft>
                <a:spcPct val="0"/>
              </a:spcAft>
            </a:pP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Thực</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tập</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là</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học</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phần</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quan</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trọng</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đối</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với</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sinh</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viên</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CNTT</a:t>
            </a:r>
          </a:p>
          <a:p>
            <a:pPr lvl="1" eaLnBrk="0" fontAlgn="base" hangingPunct="0">
              <a:lnSpc>
                <a:spcPct val="150000"/>
              </a:lnSpc>
              <a:spcBef>
                <a:spcPct val="0"/>
              </a:spcBef>
              <a:spcAft>
                <a:spcPct val="0"/>
              </a:spcAft>
            </a:pP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Công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tác</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quản</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lý</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đơn</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vị</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thực</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tập</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còn</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a:t>
            </a:r>
          </a:p>
          <a:p>
            <a:pPr lvl="2" eaLnBrk="0" fontAlgn="base" hangingPunct="0">
              <a:lnSpc>
                <a:spcPct val="150000"/>
              </a:lnSpc>
              <a:spcBef>
                <a:spcPct val="0"/>
              </a:spcBef>
              <a:spcAft>
                <a:spcPct val="0"/>
              </a:spcAft>
            </a:pP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Phân</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tán</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thủ</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công</a:t>
            </a:r>
            <a:endPar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endParaRPr>
          </a:p>
          <a:p>
            <a:pPr lvl="2" eaLnBrk="0" fontAlgn="base" hangingPunct="0">
              <a:lnSpc>
                <a:spcPct val="150000"/>
              </a:lnSpc>
              <a:spcBef>
                <a:spcPct val="0"/>
              </a:spcBef>
              <a:spcAft>
                <a:spcPct val="0"/>
              </a:spcAft>
            </a:pP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Khó</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cập</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nhật</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và</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tra</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cứu</a:t>
            </a:r>
            <a:endPar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endParaRPr>
          </a:p>
          <a:p>
            <a:pPr lvl="1" eaLnBrk="0" fontAlgn="base" hangingPunct="0">
              <a:lnSpc>
                <a:spcPct val="150000"/>
              </a:lnSpc>
              <a:spcBef>
                <a:spcPct val="0"/>
              </a:spcBef>
              <a:spcAft>
                <a:spcPct val="0"/>
              </a:spcAft>
            </a:pP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Cần</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xây</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dựng</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hệ</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thống</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a:t>
            </a:r>
          </a:p>
          <a:p>
            <a:pPr lvl="2" eaLnBrk="0" fontAlgn="base" hangingPunct="0">
              <a:lnSpc>
                <a:spcPct val="150000"/>
              </a:lnSpc>
              <a:spcBef>
                <a:spcPct val="0"/>
              </a:spcBef>
              <a:spcAft>
                <a:spcPct val="0"/>
              </a:spcAft>
            </a:pP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Quản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lý</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tập</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trung</a:t>
            </a:r>
            <a:endPar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endParaRPr>
          </a:p>
          <a:p>
            <a:pPr lvl="2" eaLnBrk="0" fontAlgn="base" hangingPunct="0">
              <a:lnSpc>
                <a:spcPct val="150000"/>
              </a:lnSpc>
              <a:spcBef>
                <a:spcPct val="0"/>
              </a:spcBef>
              <a:spcAft>
                <a:spcPct val="0"/>
              </a:spcAft>
            </a:pP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Hỗ</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trợ</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cán</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bộ</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và</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sinh</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viên</a:t>
            </a:r>
            <a:endPar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endParaRPr>
          </a:p>
          <a:p>
            <a:pPr lvl="1" eaLnBrk="0" fontAlgn="base" hangingPunct="0">
              <a:lnSpc>
                <a:spcPct val="150000"/>
              </a:lnSpc>
              <a:spcBef>
                <a:spcPct val="0"/>
              </a:spcBef>
              <a:spcAft>
                <a:spcPct val="0"/>
              </a:spcAft>
            </a:pP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Phù</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hợp</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xu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hướng</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ứng</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dụng</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CNTT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trong</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quản</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lý</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giáo</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dục</a:t>
            </a:r>
            <a:endPar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3" name="Slide Number Placeholder 2">
            <a:extLst>
              <a:ext uri="{FF2B5EF4-FFF2-40B4-BE49-F238E27FC236}">
                <a16:creationId xmlns:a16="http://schemas.microsoft.com/office/drawing/2014/main" id="{993C3459-BB02-F755-532E-992858FE7743}"/>
              </a:ext>
            </a:extLst>
          </p:cNvPr>
          <p:cNvSpPr>
            <a:spLocks noGrp="1"/>
          </p:cNvSpPr>
          <p:nvPr>
            <p:ph type="sldNum" sz="quarter" idx="12"/>
          </p:nvPr>
        </p:nvSpPr>
        <p:spPr/>
        <p:txBody>
          <a:bodyPr/>
          <a:lstStyle/>
          <a:p>
            <a:fld id="{8EF1165B-0F1E-4C09-B047-A6274DCC401D}" type="slidenum">
              <a:rPr lang="en-US" smtClean="0"/>
              <a:t>3</a:t>
            </a:fld>
            <a:endParaRPr lang="en-US"/>
          </a:p>
        </p:txBody>
      </p:sp>
    </p:spTree>
    <p:extLst>
      <p:ext uri="{BB962C8B-B14F-4D97-AF65-F5344CB8AC3E}">
        <p14:creationId xmlns:p14="http://schemas.microsoft.com/office/powerpoint/2010/main" val="4052609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01DD2-1854-3157-4E23-77B456E4330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4B60490-7C26-07E8-39A4-45F5395105CA}"/>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6" name="TextBox 5">
            <a:extLst>
              <a:ext uri="{FF2B5EF4-FFF2-40B4-BE49-F238E27FC236}">
                <a16:creationId xmlns:a16="http://schemas.microsoft.com/office/drawing/2014/main" id="{935CC910-4A53-AE60-CF11-7304889E85C9}"/>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2. Công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nghệ</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sử</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dụng</a:t>
            </a: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9" name="Rectangle 4">
            <a:extLst>
              <a:ext uri="{FF2B5EF4-FFF2-40B4-BE49-F238E27FC236}">
                <a16:creationId xmlns:a16="http://schemas.microsoft.com/office/drawing/2014/main" id="{8E34C0B0-7A11-3816-9CA6-BDE877FFE7B8}"/>
              </a:ext>
            </a:extLst>
          </p:cNvPr>
          <p:cNvSpPr>
            <a:spLocks noChangeArrowheads="1"/>
          </p:cNvSpPr>
          <p:nvPr/>
        </p:nvSpPr>
        <p:spPr bwMode="auto">
          <a:xfrm>
            <a:off x="5791200" y="868101"/>
            <a:ext cx="6400798" cy="5989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lvl="1" algn="just">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Backend:</a:t>
            </a:r>
          </a:p>
          <a:p>
            <a:pPr lvl="2" algn="just">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Node.js</a:t>
            </a:r>
          </a:p>
          <a:p>
            <a:pPr lvl="2" algn="just">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Express.js</a:t>
            </a:r>
          </a:p>
          <a:p>
            <a:pPr lvl="1" algn="just">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Frontend:</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ReactJS</a:t>
            </a:r>
          </a:p>
          <a:p>
            <a:pPr lvl="1" algn="just">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Cơ sở dữ liệu:</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MySQL</a:t>
            </a:r>
          </a:p>
          <a:p>
            <a:pPr lvl="1" algn="just">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Mô hình phát triển:</a:t>
            </a:r>
          </a:p>
          <a:p>
            <a:pPr lvl="2" algn="just">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Ứng dụng web client–server</a:t>
            </a:r>
          </a:p>
          <a:p>
            <a:pPr lvl="2" algn="just">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RESTful API</a:t>
            </a:r>
          </a:p>
        </p:txBody>
      </p:sp>
      <p:pic>
        <p:nvPicPr>
          <p:cNvPr id="3" name="Picture 2">
            <a:extLst>
              <a:ext uri="{FF2B5EF4-FFF2-40B4-BE49-F238E27FC236}">
                <a16:creationId xmlns:a16="http://schemas.microsoft.com/office/drawing/2014/main" id="{0CFB3842-8ABE-DEA7-B30F-8E1B237279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6060" y="1034217"/>
            <a:ext cx="3855140" cy="5545991"/>
          </a:xfrm>
          <a:prstGeom prst="rect">
            <a:avLst/>
          </a:prstGeom>
        </p:spPr>
      </p:pic>
      <p:sp>
        <p:nvSpPr>
          <p:cNvPr id="4" name="Slide Number Placeholder 3">
            <a:extLst>
              <a:ext uri="{FF2B5EF4-FFF2-40B4-BE49-F238E27FC236}">
                <a16:creationId xmlns:a16="http://schemas.microsoft.com/office/drawing/2014/main" id="{1A89EE9A-E48A-9038-B9D9-0CE710D0BC36}"/>
              </a:ext>
            </a:extLst>
          </p:cNvPr>
          <p:cNvSpPr>
            <a:spLocks noGrp="1"/>
          </p:cNvSpPr>
          <p:nvPr>
            <p:ph type="sldNum" sz="quarter" idx="12"/>
          </p:nvPr>
        </p:nvSpPr>
        <p:spPr/>
        <p:txBody>
          <a:bodyPr/>
          <a:lstStyle/>
          <a:p>
            <a:fld id="{8EF1165B-0F1E-4C09-B047-A6274DCC401D}" type="slidenum">
              <a:rPr lang="en-US" smtClean="0"/>
              <a:t>4</a:t>
            </a:fld>
            <a:endParaRPr lang="en-US"/>
          </a:p>
        </p:txBody>
      </p:sp>
    </p:spTree>
    <p:extLst>
      <p:ext uri="{BB962C8B-B14F-4D97-AF65-F5344CB8AC3E}">
        <p14:creationId xmlns:p14="http://schemas.microsoft.com/office/powerpoint/2010/main" val="2540306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63BBD-365F-51B2-A91F-CA0EDAF51544}"/>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C249F18B-25A4-1C22-6B09-2DC83A32A19D}"/>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6" name="TextBox 5">
            <a:extLst>
              <a:ext uri="{FF2B5EF4-FFF2-40B4-BE49-F238E27FC236}">
                <a16:creationId xmlns:a16="http://schemas.microsoft.com/office/drawing/2014/main" id="{00A320FE-E865-5226-D1BF-5FA3703BA476}"/>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3.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Kiến</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trúc</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hệ</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thống</a:t>
            </a: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3" name="Arrow: Chevron 2">
            <a:extLst>
              <a:ext uri="{FF2B5EF4-FFF2-40B4-BE49-F238E27FC236}">
                <a16:creationId xmlns:a16="http://schemas.microsoft.com/office/drawing/2014/main" id="{33D7C416-436D-AE01-D857-5DC0743F367B}"/>
              </a:ext>
            </a:extLst>
          </p:cNvPr>
          <p:cNvSpPr/>
          <p:nvPr/>
        </p:nvSpPr>
        <p:spPr>
          <a:xfrm>
            <a:off x="777240" y="2788920"/>
            <a:ext cx="3916680" cy="1280160"/>
          </a:xfrm>
          <a:prstGeom prst="chevron">
            <a:avLst/>
          </a:prstGeom>
          <a:solidFill>
            <a:schemeClr val="accent1">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vi-VN" sz="2000" dirty="0">
                <a:solidFill>
                  <a:schemeClr val="bg1"/>
                </a:solidFill>
                <a:effectLst>
                  <a:outerShdw blurRad="38100" dist="38100" dir="2700000" algn="tl">
                    <a:srgbClr val="000000">
                      <a:alpha val="43137"/>
                    </a:srgbClr>
                  </a:outerShdw>
                </a:effectLst>
                <a:latin typeface="Bahnschrift" panose="020B0502040204020203" pitchFamily="34" charset="0"/>
              </a:rPr>
              <a:t>Presentation Layer</a:t>
            </a:r>
            <a:br>
              <a:rPr lang="en-US" sz="2000" dirty="0">
                <a:solidFill>
                  <a:schemeClr val="bg1"/>
                </a:solidFill>
                <a:effectLst>
                  <a:outerShdw blurRad="38100" dist="38100" dir="2700000" algn="tl">
                    <a:srgbClr val="000000">
                      <a:alpha val="43137"/>
                    </a:srgbClr>
                  </a:outerShdw>
                </a:effectLst>
                <a:latin typeface="Bahnschrift" panose="020B0502040204020203" pitchFamily="34" charset="0"/>
              </a:rPr>
            </a:br>
            <a:r>
              <a:rPr lang="en-US" sz="2000" dirty="0">
                <a:solidFill>
                  <a:schemeClr val="bg1"/>
                </a:solidFill>
                <a:effectLst>
                  <a:outerShdw blurRad="38100" dist="38100" dir="2700000" algn="tl">
                    <a:srgbClr val="000000">
                      <a:alpha val="43137"/>
                    </a:srgbClr>
                  </a:outerShdw>
                </a:effectLst>
                <a:latin typeface="Bahnschrift" panose="020B0502040204020203" pitchFamily="34" charset="0"/>
              </a:rPr>
              <a:t>(</a:t>
            </a:r>
            <a:r>
              <a:rPr lang="en-US" sz="2000" dirty="0" err="1">
                <a:solidFill>
                  <a:schemeClr val="bg1"/>
                </a:solidFill>
                <a:effectLst>
                  <a:outerShdw blurRad="38100" dist="38100" dir="2700000" algn="tl">
                    <a:srgbClr val="000000">
                      <a:alpha val="43137"/>
                    </a:srgbClr>
                  </a:outerShdw>
                </a:effectLst>
                <a:latin typeface="Bahnschrift" panose="020B0502040204020203" pitchFamily="34" charset="0"/>
              </a:rPr>
              <a:t>Lớp</a:t>
            </a:r>
            <a:r>
              <a:rPr lang="en-US" sz="20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000" dirty="0" err="1">
                <a:solidFill>
                  <a:schemeClr val="bg1"/>
                </a:solidFill>
                <a:effectLst>
                  <a:outerShdw blurRad="38100" dist="38100" dir="2700000" algn="tl">
                    <a:srgbClr val="000000">
                      <a:alpha val="43137"/>
                    </a:srgbClr>
                  </a:outerShdw>
                </a:effectLst>
                <a:latin typeface="Bahnschrift" panose="020B0502040204020203" pitchFamily="34" charset="0"/>
              </a:rPr>
              <a:t>trình</a:t>
            </a:r>
            <a:r>
              <a:rPr lang="en-US" sz="20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000" dirty="0" err="1">
                <a:solidFill>
                  <a:schemeClr val="bg1"/>
                </a:solidFill>
                <a:effectLst>
                  <a:outerShdw blurRad="38100" dist="38100" dir="2700000" algn="tl">
                    <a:srgbClr val="000000">
                      <a:alpha val="43137"/>
                    </a:srgbClr>
                  </a:outerShdw>
                </a:effectLst>
                <a:latin typeface="Bahnschrift" panose="020B0502040204020203" pitchFamily="34" charset="0"/>
              </a:rPr>
              <a:t>bày</a:t>
            </a:r>
            <a:r>
              <a:rPr lang="en-US" sz="2000" dirty="0">
                <a:solidFill>
                  <a:schemeClr val="bg1"/>
                </a:solidFill>
                <a:effectLst>
                  <a:outerShdw blurRad="38100" dist="38100" dir="2700000" algn="tl">
                    <a:srgbClr val="000000">
                      <a:alpha val="43137"/>
                    </a:srgbClr>
                  </a:outerShdw>
                </a:effectLst>
                <a:latin typeface="Bahnschrift" panose="020B0502040204020203" pitchFamily="34" charset="0"/>
              </a:rPr>
              <a:t>)</a:t>
            </a:r>
            <a:endParaRPr lang="en-US" sz="2000" dirty="0">
              <a:solidFill>
                <a:schemeClr val="tx1"/>
              </a:solidFill>
            </a:endParaRPr>
          </a:p>
        </p:txBody>
      </p:sp>
      <p:sp>
        <p:nvSpPr>
          <p:cNvPr id="4" name="Arrow: Chevron 3">
            <a:extLst>
              <a:ext uri="{FF2B5EF4-FFF2-40B4-BE49-F238E27FC236}">
                <a16:creationId xmlns:a16="http://schemas.microsoft.com/office/drawing/2014/main" id="{BAD1F75A-8CE6-458F-9B6D-E50EE7B6D68F}"/>
              </a:ext>
            </a:extLst>
          </p:cNvPr>
          <p:cNvSpPr/>
          <p:nvPr/>
        </p:nvSpPr>
        <p:spPr>
          <a:xfrm>
            <a:off x="4206240" y="2788920"/>
            <a:ext cx="3916680" cy="1280160"/>
          </a:xfrm>
          <a:prstGeom prst="chevron">
            <a:avLst/>
          </a:prstGeom>
          <a:solidFill>
            <a:schemeClr val="accent1">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2000" dirty="0">
                <a:solidFill>
                  <a:schemeClr val="bg1"/>
                </a:solidFill>
                <a:effectLst>
                  <a:outerShdw blurRad="38100" dist="38100" dir="2700000" algn="tl">
                    <a:srgbClr val="000000">
                      <a:alpha val="43137"/>
                    </a:srgbClr>
                  </a:outerShdw>
                </a:effectLst>
                <a:latin typeface="Bahnschrift" panose="020B0502040204020203" pitchFamily="34" charset="0"/>
              </a:rPr>
              <a:t>Business Logic Layer</a:t>
            </a:r>
            <a:endParaRPr lang="en-US" sz="2000" dirty="0">
              <a:solidFill>
                <a:schemeClr val="bg1"/>
              </a:solidFill>
              <a:effectLst>
                <a:outerShdw blurRad="38100" dist="38100" dir="2700000" algn="tl">
                  <a:srgbClr val="000000">
                    <a:alpha val="43137"/>
                  </a:srgbClr>
                </a:outerShdw>
              </a:effectLst>
              <a:latin typeface="Bahnschrift" panose="020B0502040204020203" pitchFamily="34" charset="0"/>
            </a:endParaRPr>
          </a:p>
          <a:p>
            <a:pPr algn="ctr">
              <a:lnSpc>
                <a:spcPct val="150000"/>
              </a:lnSpc>
            </a:pPr>
            <a:r>
              <a:rPr lang="en-US" sz="2000" dirty="0">
                <a:solidFill>
                  <a:schemeClr val="bg1"/>
                </a:solidFill>
                <a:effectLst>
                  <a:outerShdw blurRad="38100" dist="38100" dir="2700000" algn="tl">
                    <a:srgbClr val="000000">
                      <a:alpha val="43137"/>
                    </a:srgbClr>
                  </a:outerShdw>
                </a:effectLst>
                <a:latin typeface="Bahnschrift" panose="020B0502040204020203" pitchFamily="34" charset="0"/>
              </a:rPr>
              <a:t>(</a:t>
            </a:r>
            <a:r>
              <a:rPr lang="en-US" sz="2000" dirty="0" err="1">
                <a:solidFill>
                  <a:schemeClr val="bg1"/>
                </a:solidFill>
                <a:effectLst>
                  <a:outerShdw blurRad="38100" dist="38100" dir="2700000" algn="tl">
                    <a:srgbClr val="000000">
                      <a:alpha val="43137"/>
                    </a:srgbClr>
                  </a:outerShdw>
                </a:effectLst>
                <a:latin typeface="Bahnschrift" panose="020B0502040204020203" pitchFamily="34" charset="0"/>
              </a:rPr>
              <a:t>Lớp</a:t>
            </a:r>
            <a:r>
              <a:rPr lang="en-US" sz="20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000" dirty="0" err="1">
                <a:solidFill>
                  <a:schemeClr val="bg1"/>
                </a:solidFill>
                <a:effectLst>
                  <a:outerShdw blurRad="38100" dist="38100" dir="2700000" algn="tl">
                    <a:srgbClr val="000000">
                      <a:alpha val="43137"/>
                    </a:srgbClr>
                  </a:outerShdw>
                </a:effectLst>
                <a:latin typeface="Bahnschrift" panose="020B0502040204020203" pitchFamily="34" charset="0"/>
              </a:rPr>
              <a:t>xử</a:t>
            </a:r>
            <a:r>
              <a:rPr lang="en-US" sz="20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000" dirty="0" err="1">
                <a:solidFill>
                  <a:schemeClr val="bg1"/>
                </a:solidFill>
                <a:effectLst>
                  <a:outerShdw blurRad="38100" dist="38100" dir="2700000" algn="tl">
                    <a:srgbClr val="000000">
                      <a:alpha val="43137"/>
                    </a:srgbClr>
                  </a:outerShdw>
                </a:effectLst>
                <a:latin typeface="Bahnschrift" panose="020B0502040204020203" pitchFamily="34" charset="0"/>
              </a:rPr>
              <a:t>lý</a:t>
            </a:r>
            <a:r>
              <a:rPr lang="en-US" sz="20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000" dirty="0" err="1">
                <a:solidFill>
                  <a:schemeClr val="bg1"/>
                </a:solidFill>
                <a:effectLst>
                  <a:outerShdw blurRad="38100" dist="38100" dir="2700000" algn="tl">
                    <a:srgbClr val="000000">
                      <a:alpha val="43137"/>
                    </a:srgbClr>
                  </a:outerShdw>
                </a:effectLst>
                <a:latin typeface="Bahnschrift" panose="020B0502040204020203" pitchFamily="34" charset="0"/>
              </a:rPr>
              <a:t>nghiệp</a:t>
            </a:r>
            <a:r>
              <a:rPr lang="en-US" sz="20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000" dirty="0" err="1">
                <a:solidFill>
                  <a:schemeClr val="bg1"/>
                </a:solidFill>
                <a:effectLst>
                  <a:outerShdw blurRad="38100" dist="38100" dir="2700000" algn="tl">
                    <a:srgbClr val="000000">
                      <a:alpha val="43137"/>
                    </a:srgbClr>
                  </a:outerShdw>
                </a:effectLst>
                <a:latin typeface="Bahnschrift" panose="020B0502040204020203" pitchFamily="34" charset="0"/>
              </a:rPr>
              <a:t>vụ</a:t>
            </a:r>
            <a:r>
              <a:rPr lang="en-US" sz="2000" dirty="0">
                <a:solidFill>
                  <a:schemeClr val="bg1"/>
                </a:solidFill>
                <a:effectLst>
                  <a:outerShdw blurRad="38100" dist="38100" dir="2700000" algn="tl">
                    <a:srgbClr val="000000">
                      <a:alpha val="43137"/>
                    </a:srgbClr>
                  </a:outerShdw>
                </a:effectLst>
                <a:latin typeface="Bahnschrift" panose="020B0502040204020203" pitchFamily="34" charset="0"/>
              </a:rPr>
              <a:t>)</a:t>
            </a:r>
            <a:endParaRPr lang="en-US" sz="2000" dirty="0">
              <a:solidFill>
                <a:schemeClr val="tx1"/>
              </a:solidFill>
            </a:endParaRPr>
          </a:p>
        </p:txBody>
      </p:sp>
      <p:sp>
        <p:nvSpPr>
          <p:cNvPr id="5" name="Arrow: Chevron 4">
            <a:extLst>
              <a:ext uri="{FF2B5EF4-FFF2-40B4-BE49-F238E27FC236}">
                <a16:creationId xmlns:a16="http://schemas.microsoft.com/office/drawing/2014/main" id="{F223FE95-7FDD-78D0-8DC2-E4765B439EB6}"/>
              </a:ext>
            </a:extLst>
          </p:cNvPr>
          <p:cNvSpPr/>
          <p:nvPr/>
        </p:nvSpPr>
        <p:spPr>
          <a:xfrm>
            <a:off x="7635240" y="2788920"/>
            <a:ext cx="3916680" cy="1280160"/>
          </a:xfrm>
          <a:prstGeom prst="chevron">
            <a:avLst/>
          </a:prstGeom>
          <a:solidFill>
            <a:schemeClr val="accent1">
              <a:lumMod val="5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vi-VN" sz="2000" dirty="0">
                <a:solidFill>
                  <a:schemeClr val="bg1"/>
                </a:solidFill>
                <a:effectLst>
                  <a:outerShdw blurRad="38100" dist="38100" dir="2700000" algn="tl">
                    <a:srgbClr val="000000">
                      <a:alpha val="43137"/>
                    </a:srgbClr>
                  </a:outerShdw>
                </a:effectLst>
                <a:latin typeface="Bahnschrift" panose="020B0502040204020203" pitchFamily="34" charset="0"/>
              </a:rPr>
              <a:t>Data Layer</a:t>
            </a:r>
            <a:endParaRPr lang="en-US" sz="2000" dirty="0">
              <a:solidFill>
                <a:schemeClr val="bg1"/>
              </a:solidFill>
              <a:effectLst>
                <a:outerShdw blurRad="38100" dist="38100" dir="2700000" algn="tl">
                  <a:srgbClr val="000000">
                    <a:alpha val="43137"/>
                  </a:srgbClr>
                </a:outerShdw>
              </a:effectLst>
              <a:latin typeface="Bahnschrift" panose="020B0502040204020203" pitchFamily="34" charset="0"/>
            </a:endParaRPr>
          </a:p>
          <a:p>
            <a:pPr algn="ctr"/>
            <a:r>
              <a:rPr lang="en-US" sz="2000" dirty="0">
                <a:solidFill>
                  <a:schemeClr val="bg1"/>
                </a:solidFill>
                <a:effectLst>
                  <a:outerShdw blurRad="38100" dist="38100" dir="2700000" algn="tl">
                    <a:srgbClr val="000000">
                      <a:alpha val="43137"/>
                    </a:srgbClr>
                  </a:outerShdw>
                </a:effectLst>
                <a:latin typeface="Bahnschrift" panose="020B0502040204020203" pitchFamily="34" charset="0"/>
              </a:rPr>
              <a:t>(</a:t>
            </a:r>
            <a:r>
              <a:rPr lang="en-US" sz="2000" dirty="0" err="1">
                <a:solidFill>
                  <a:schemeClr val="bg1"/>
                </a:solidFill>
                <a:effectLst>
                  <a:outerShdw blurRad="38100" dist="38100" dir="2700000" algn="tl">
                    <a:srgbClr val="000000">
                      <a:alpha val="43137"/>
                    </a:srgbClr>
                  </a:outerShdw>
                </a:effectLst>
                <a:latin typeface="Bahnschrift" panose="020B0502040204020203" pitchFamily="34" charset="0"/>
              </a:rPr>
              <a:t>Lớp</a:t>
            </a:r>
            <a:r>
              <a:rPr lang="en-US" sz="20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000" dirty="0" err="1">
                <a:solidFill>
                  <a:schemeClr val="bg1"/>
                </a:solidFill>
                <a:effectLst>
                  <a:outerShdw blurRad="38100" dist="38100" dir="2700000" algn="tl">
                    <a:srgbClr val="000000">
                      <a:alpha val="43137"/>
                    </a:srgbClr>
                  </a:outerShdw>
                </a:effectLst>
                <a:latin typeface="Bahnschrift" panose="020B0502040204020203" pitchFamily="34" charset="0"/>
              </a:rPr>
              <a:t>dữ</a:t>
            </a:r>
            <a:r>
              <a:rPr lang="en-US" sz="20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000" dirty="0" err="1">
                <a:solidFill>
                  <a:schemeClr val="bg1"/>
                </a:solidFill>
                <a:effectLst>
                  <a:outerShdw blurRad="38100" dist="38100" dir="2700000" algn="tl">
                    <a:srgbClr val="000000">
                      <a:alpha val="43137"/>
                    </a:srgbClr>
                  </a:outerShdw>
                </a:effectLst>
                <a:latin typeface="Bahnschrift" panose="020B0502040204020203" pitchFamily="34" charset="0"/>
              </a:rPr>
              <a:t>liệu</a:t>
            </a:r>
            <a:r>
              <a:rPr lang="en-US" sz="2000" dirty="0">
                <a:solidFill>
                  <a:schemeClr val="bg1"/>
                </a:solidFill>
                <a:effectLst>
                  <a:outerShdw blurRad="38100" dist="38100" dir="2700000" algn="tl">
                    <a:srgbClr val="000000">
                      <a:alpha val="43137"/>
                    </a:srgbClr>
                  </a:outerShdw>
                </a:effectLst>
                <a:latin typeface="Bahnschrift" panose="020B0502040204020203" pitchFamily="34" charset="0"/>
              </a:rPr>
              <a:t>)</a:t>
            </a:r>
            <a:endParaRPr lang="en-US" sz="2000" dirty="0">
              <a:solidFill>
                <a:schemeClr val="tx1"/>
              </a:solidFill>
            </a:endParaRPr>
          </a:p>
        </p:txBody>
      </p:sp>
      <p:sp>
        <p:nvSpPr>
          <p:cNvPr id="7" name="TextBox 6">
            <a:extLst>
              <a:ext uri="{FF2B5EF4-FFF2-40B4-BE49-F238E27FC236}">
                <a16:creationId xmlns:a16="http://schemas.microsoft.com/office/drawing/2014/main" id="{28C7F5C7-5BF7-305C-6ABE-0144B9EF7F7E}"/>
              </a:ext>
            </a:extLst>
          </p:cNvPr>
          <p:cNvSpPr txBox="1"/>
          <p:nvPr/>
        </p:nvSpPr>
        <p:spPr>
          <a:xfrm>
            <a:off x="777240" y="4296973"/>
            <a:ext cx="3276600" cy="461665"/>
          </a:xfrm>
          <a:prstGeom prst="rect">
            <a:avLst/>
          </a:prstGeom>
          <a:noFill/>
        </p:spPr>
        <p:txBody>
          <a:bodyPr wrap="square" rtlCol="0">
            <a:spAutoFit/>
          </a:bodyPr>
          <a:lstStyle/>
          <a:p>
            <a:pPr algn="ctr"/>
            <a:r>
              <a:rPr lang="vi-VN" sz="2400" dirty="0">
                <a:solidFill>
                  <a:schemeClr val="bg1"/>
                </a:solidFill>
                <a:effectLst>
                  <a:outerShdw blurRad="38100" dist="38100" dir="2700000" algn="tl">
                    <a:srgbClr val="000000">
                      <a:alpha val="43137"/>
                    </a:srgbClr>
                  </a:outerShdw>
                </a:effectLst>
                <a:latin typeface="Bahnschrift" panose="020B0502040204020203" pitchFamily="34" charset="0"/>
              </a:rPr>
              <a:t>ReactJS</a:t>
            </a:r>
            <a:endParaRPr lang="en-US" sz="2400"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8" name="TextBox 7">
            <a:extLst>
              <a:ext uri="{FF2B5EF4-FFF2-40B4-BE49-F238E27FC236}">
                <a16:creationId xmlns:a16="http://schemas.microsoft.com/office/drawing/2014/main" id="{E007780D-FCAE-B2AF-4ABE-B0017D19DF46}"/>
              </a:ext>
            </a:extLst>
          </p:cNvPr>
          <p:cNvSpPr txBox="1"/>
          <p:nvPr/>
        </p:nvSpPr>
        <p:spPr>
          <a:xfrm>
            <a:off x="4206240" y="4307758"/>
            <a:ext cx="3276600" cy="461665"/>
          </a:xfrm>
          <a:prstGeom prst="rect">
            <a:avLst/>
          </a:prstGeom>
          <a:noFill/>
        </p:spPr>
        <p:txBody>
          <a:bodyPr wrap="square" rtlCol="0">
            <a:spAutoFit/>
          </a:bodyPr>
          <a:lstStyle/>
          <a:p>
            <a:pPr algn="ctr"/>
            <a:r>
              <a:rPr lang="vi-VN" sz="2400" dirty="0">
                <a:solidFill>
                  <a:schemeClr val="bg1"/>
                </a:solidFill>
                <a:effectLst>
                  <a:outerShdw blurRad="38100" dist="38100" dir="2700000" algn="tl">
                    <a:srgbClr val="000000">
                      <a:alpha val="43137"/>
                    </a:srgbClr>
                  </a:outerShdw>
                </a:effectLst>
                <a:latin typeface="Bahnschrift" panose="020B0502040204020203" pitchFamily="34" charset="0"/>
              </a:rPr>
              <a:t>Node.js + Express.js</a:t>
            </a:r>
            <a:endParaRPr lang="en-US" sz="2400" dirty="0"/>
          </a:p>
        </p:txBody>
      </p:sp>
      <p:sp>
        <p:nvSpPr>
          <p:cNvPr id="10" name="TextBox 9">
            <a:extLst>
              <a:ext uri="{FF2B5EF4-FFF2-40B4-BE49-F238E27FC236}">
                <a16:creationId xmlns:a16="http://schemas.microsoft.com/office/drawing/2014/main" id="{CB32047B-165E-FDBB-0B44-BC21D86DC480}"/>
              </a:ext>
            </a:extLst>
          </p:cNvPr>
          <p:cNvSpPr txBox="1"/>
          <p:nvPr/>
        </p:nvSpPr>
        <p:spPr>
          <a:xfrm>
            <a:off x="7635240" y="4307758"/>
            <a:ext cx="3276600" cy="461665"/>
          </a:xfrm>
          <a:prstGeom prst="rect">
            <a:avLst/>
          </a:prstGeom>
          <a:noFill/>
        </p:spPr>
        <p:txBody>
          <a:bodyPr wrap="square" rtlCol="0">
            <a:spAutoFit/>
          </a:bodyPr>
          <a:lstStyle/>
          <a:p>
            <a:pPr algn="ctr"/>
            <a:r>
              <a:rPr lang="vi-VN" sz="2400" dirty="0">
                <a:solidFill>
                  <a:schemeClr val="bg1"/>
                </a:solidFill>
                <a:effectLst>
                  <a:outerShdw blurRad="38100" dist="38100" dir="2700000" algn="tl">
                    <a:srgbClr val="000000">
                      <a:alpha val="43137"/>
                    </a:srgbClr>
                  </a:outerShdw>
                </a:effectLst>
                <a:latin typeface="Bahnschrift" panose="020B0502040204020203" pitchFamily="34" charset="0"/>
              </a:rPr>
              <a:t>MySQL</a:t>
            </a:r>
            <a:endParaRPr lang="en-US" sz="2400" dirty="0"/>
          </a:p>
        </p:txBody>
      </p:sp>
      <p:sp>
        <p:nvSpPr>
          <p:cNvPr id="11" name="TextBox 10">
            <a:extLst>
              <a:ext uri="{FF2B5EF4-FFF2-40B4-BE49-F238E27FC236}">
                <a16:creationId xmlns:a16="http://schemas.microsoft.com/office/drawing/2014/main" id="{6F95F01D-AF87-D1AC-086A-66FD904A00CE}"/>
              </a:ext>
            </a:extLst>
          </p:cNvPr>
          <p:cNvSpPr txBox="1"/>
          <p:nvPr/>
        </p:nvSpPr>
        <p:spPr>
          <a:xfrm>
            <a:off x="0" y="1609801"/>
            <a:ext cx="12192000" cy="523220"/>
          </a:xfrm>
          <a:prstGeom prst="rect">
            <a:avLst/>
          </a:prstGeom>
          <a:noFill/>
        </p:spPr>
        <p:txBody>
          <a:bodyPr wrap="square" rtlCol="0">
            <a:spAutoFit/>
          </a:bodyPr>
          <a:lstStyle/>
          <a:p>
            <a:pPr algn="ct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Kiến trúc 3 lớp (Three-tier)</a:t>
            </a:r>
            <a:endParaRPr lang="en-US" sz="2800" dirty="0"/>
          </a:p>
        </p:txBody>
      </p:sp>
      <p:sp>
        <p:nvSpPr>
          <p:cNvPr id="13" name="Slide Number Placeholder 12">
            <a:extLst>
              <a:ext uri="{FF2B5EF4-FFF2-40B4-BE49-F238E27FC236}">
                <a16:creationId xmlns:a16="http://schemas.microsoft.com/office/drawing/2014/main" id="{C43AACC2-5A96-0832-9EA6-AA1BA97409AB}"/>
              </a:ext>
            </a:extLst>
          </p:cNvPr>
          <p:cNvSpPr>
            <a:spLocks noGrp="1"/>
          </p:cNvSpPr>
          <p:nvPr>
            <p:ph type="sldNum" sz="quarter" idx="12"/>
          </p:nvPr>
        </p:nvSpPr>
        <p:spPr/>
        <p:txBody>
          <a:bodyPr/>
          <a:lstStyle/>
          <a:p>
            <a:fld id="{8EF1165B-0F1E-4C09-B047-A6274DCC401D}" type="slidenum">
              <a:rPr lang="en-US" smtClean="0"/>
              <a:t>5</a:t>
            </a:fld>
            <a:endParaRPr lang="en-US"/>
          </a:p>
        </p:txBody>
      </p:sp>
    </p:spTree>
    <p:extLst>
      <p:ext uri="{BB962C8B-B14F-4D97-AF65-F5344CB8AC3E}">
        <p14:creationId xmlns:p14="http://schemas.microsoft.com/office/powerpoint/2010/main" val="1269781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up)">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par>
                          <p:cTn id="19" fill="hold">
                            <p:stCondLst>
                              <p:cond delay="500"/>
                            </p:stCondLst>
                            <p:childTnLst>
                              <p:par>
                                <p:cTn id="20" presetID="16" presetClass="entr" presetSubtype="21"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inVertic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par>
                          <p:cTn id="28" fill="hold">
                            <p:stCondLst>
                              <p:cond delay="500"/>
                            </p:stCondLst>
                            <p:childTnLst>
                              <p:par>
                                <p:cTn id="29" presetID="16" presetClass="entr" presetSubtype="21"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barn(inVertical)">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wipe(left)">
                                      <p:cBhvr>
                                        <p:cTn id="36" dur="500"/>
                                        <p:tgtEl>
                                          <p:spTgt spid="5"/>
                                        </p:tgtEl>
                                      </p:cBhvr>
                                    </p:animEffect>
                                  </p:childTnLst>
                                </p:cTn>
                              </p:par>
                            </p:childTnLst>
                          </p:cTn>
                        </p:par>
                        <p:par>
                          <p:cTn id="37" fill="hold">
                            <p:stCondLst>
                              <p:cond delay="500"/>
                            </p:stCondLst>
                            <p:childTnLst>
                              <p:par>
                                <p:cTn id="38" presetID="16" presetClass="entr" presetSubtype="21"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barn(inVertical)">
                                      <p:cBhvr>
                                        <p:cTn id="4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P spid="4" grpId="0" animBg="1"/>
      <p:bldP spid="5" grpId="0" animBg="1"/>
      <p:bldP spid="7" grpId="0"/>
      <p:bldP spid="8" grpId="0"/>
      <p:bldP spid="10"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D4469-831C-CD79-F9CB-FC77D024381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5F24E6A-580B-2318-1375-ACF3227E92B8}"/>
              </a:ext>
            </a:extLst>
          </p:cNvPr>
          <p:cNvSpPr txBox="1"/>
          <p:nvPr/>
        </p:nvSpPr>
        <p:spPr>
          <a:xfrm>
            <a:off x="0" y="277791"/>
            <a:ext cx="12192000" cy="590309"/>
          </a:xfrm>
          <a:prstGeom prst="rect">
            <a:avLst/>
          </a:prstGeom>
          <a:solidFill>
            <a:srgbClr val="1E72B2"/>
          </a:solidFill>
        </p:spPr>
        <p:txBody>
          <a:bodyPr wrap="square" rtlCol="0" anchor="ctr">
            <a:noAutofit/>
          </a:bodyPr>
          <a:lstStyle/>
          <a:p>
            <a:pPr lvl="4">
              <a:spcBef>
                <a:spcPts val="300"/>
              </a:spcBef>
              <a:spcAft>
                <a:spcPts val="300"/>
              </a:spcAft>
            </a:pP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6" name="TextBox 5">
            <a:extLst>
              <a:ext uri="{FF2B5EF4-FFF2-40B4-BE49-F238E27FC236}">
                <a16:creationId xmlns:a16="http://schemas.microsoft.com/office/drawing/2014/main" id="{F243F338-0160-592F-6A28-B790E29A5598}"/>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4.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Phân</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tích</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yêu</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cầu</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hệ</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thống</a:t>
            </a: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2" name="Rectangle: Rounded Corners 1">
            <a:extLst>
              <a:ext uri="{FF2B5EF4-FFF2-40B4-BE49-F238E27FC236}">
                <a16:creationId xmlns:a16="http://schemas.microsoft.com/office/drawing/2014/main" id="{1FEE2788-6D5C-6317-8F72-4BE8ED843EB6}"/>
              </a:ext>
            </a:extLst>
          </p:cNvPr>
          <p:cNvSpPr/>
          <p:nvPr/>
        </p:nvSpPr>
        <p:spPr>
          <a:xfrm>
            <a:off x="381000" y="1200488"/>
            <a:ext cx="5501640" cy="5379720"/>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50000"/>
              </a:lnSpc>
            </a:pPr>
            <a:r>
              <a:rPr lang="vi-VN" sz="2800" b="1" dirty="0">
                <a:solidFill>
                  <a:schemeClr val="bg1"/>
                </a:solidFill>
                <a:effectLst>
                  <a:outerShdw blurRad="38100" dist="38100" dir="2700000" algn="tl">
                    <a:srgbClr val="000000">
                      <a:alpha val="43137"/>
                    </a:srgbClr>
                  </a:outerShdw>
                </a:effectLst>
                <a:latin typeface="Bahnschrift" panose="020B0502040204020203" pitchFamily="34" charset="0"/>
              </a:rPr>
              <a:t>Yêu cầu chức năng</a:t>
            </a:r>
          </a:p>
          <a:p>
            <a:pPr algn="just">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Quản lý người dùng và phân quyền</a:t>
            </a:r>
          </a:p>
          <a:p>
            <a:pPr algn="just">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Quản lý đơn vị thực tập, cán bộ hướng dẫn</a:t>
            </a:r>
          </a:p>
          <a:p>
            <a:pPr algn="just">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Tra cứu, tìm kiếm thông tin</a:t>
            </a:r>
            <a:endParaRPr lang="en-US" sz="2800" dirty="0">
              <a:solidFill>
                <a:schemeClr val="bg1"/>
              </a:solidFill>
              <a:effectLst>
                <a:outerShdw blurRad="38100" dist="38100" dir="2700000" algn="tl">
                  <a:srgbClr val="000000">
                    <a:alpha val="43137"/>
                  </a:srgbClr>
                </a:outerShdw>
              </a:effectLst>
              <a:latin typeface="Bahnschrift" panose="020B0502040204020203" pitchFamily="34" charset="0"/>
            </a:endParaRPr>
          </a:p>
          <a:p>
            <a:pPr algn="just">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Thống kê dữ liệu</a:t>
            </a:r>
          </a:p>
          <a:p>
            <a:pPr algn="ctr"/>
            <a:endParaRPr lang="en-US" dirty="0"/>
          </a:p>
        </p:txBody>
      </p:sp>
      <p:sp>
        <p:nvSpPr>
          <p:cNvPr id="3" name="Rectangle: Rounded Corners 2">
            <a:extLst>
              <a:ext uri="{FF2B5EF4-FFF2-40B4-BE49-F238E27FC236}">
                <a16:creationId xmlns:a16="http://schemas.microsoft.com/office/drawing/2014/main" id="{A859861B-2FD0-2502-EFE0-CDD682CA638F}"/>
              </a:ext>
            </a:extLst>
          </p:cNvPr>
          <p:cNvSpPr/>
          <p:nvPr/>
        </p:nvSpPr>
        <p:spPr>
          <a:xfrm>
            <a:off x="6309362" y="1200488"/>
            <a:ext cx="5501640" cy="5379720"/>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50000"/>
              </a:lnSpc>
            </a:pPr>
            <a:r>
              <a:rPr lang="vi-VN" sz="2800" b="1" dirty="0">
                <a:solidFill>
                  <a:schemeClr val="bg1"/>
                </a:solidFill>
                <a:effectLst>
                  <a:outerShdw blurRad="38100" dist="38100" dir="2700000" algn="tl">
                    <a:srgbClr val="000000">
                      <a:alpha val="43137"/>
                    </a:srgbClr>
                  </a:outerShdw>
                </a:effectLst>
                <a:latin typeface="Bahnschrift" panose="020B0502040204020203" pitchFamily="34" charset="0"/>
              </a:rPr>
              <a:t>Yêu cầu phi chức năng</a:t>
            </a:r>
          </a:p>
          <a:p>
            <a:pPr algn="just">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Bảo mật thông tin, mã hóa mật khẩu</a:t>
            </a:r>
          </a:p>
          <a:p>
            <a:pPr algn="just">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Giao diện dễ sử dụng</a:t>
            </a:r>
          </a:p>
          <a:p>
            <a:pPr algn="just">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Hệ thống hoạt động ổn định</a:t>
            </a:r>
          </a:p>
          <a:p>
            <a:pPr algn="ctr"/>
            <a:endParaRPr lang="en-US" dirty="0"/>
          </a:p>
        </p:txBody>
      </p:sp>
      <p:sp>
        <p:nvSpPr>
          <p:cNvPr id="5" name="Slide Number Placeholder 4">
            <a:extLst>
              <a:ext uri="{FF2B5EF4-FFF2-40B4-BE49-F238E27FC236}">
                <a16:creationId xmlns:a16="http://schemas.microsoft.com/office/drawing/2014/main" id="{A390B073-188C-E0A8-544B-03F89BB7CBFC}"/>
              </a:ext>
            </a:extLst>
          </p:cNvPr>
          <p:cNvSpPr>
            <a:spLocks noGrp="1"/>
          </p:cNvSpPr>
          <p:nvPr>
            <p:ph type="sldNum" sz="quarter" idx="12"/>
          </p:nvPr>
        </p:nvSpPr>
        <p:spPr/>
        <p:txBody>
          <a:bodyPr/>
          <a:lstStyle/>
          <a:p>
            <a:fld id="{8EF1165B-0F1E-4C09-B047-A6274DCC401D}" type="slidenum">
              <a:rPr lang="en-US" smtClean="0"/>
              <a:t>6</a:t>
            </a:fld>
            <a:endParaRPr lang="en-US"/>
          </a:p>
        </p:txBody>
      </p:sp>
    </p:spTree>
    <p:extLst>
      <p:ext uri="{BB962C8B-B14F-4D97-AF65-F5344CB8AC3E}">
        <p14:creationId xmlns:p14="http://schemas.microsoft.com/office/powerpoint/2010/main" val="61230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par>
                                <p:cTn id="14" presetID="2" presetClass="entr" presetSubtype="2"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1+#ppt_w/2"/>
                                          </p:val>
                                        </p:tav>
                                        <p:tav tm="100000">
                                          <p:val>
                                            <p:strVal val="#ppt_x"/>
                                          </p:val>
                                        </p:tav>
                                      </p:tavLst>
                                    </p:anim>
                                    <p:anim calcmode="lin" valueType="num">
                                      <p:cBhvr additive="base">
                                        <p:cTn id="17"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5BC23-B46C-48F0-8031-744020D4FBB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F04C1ED-3553-60BB-8996-0AB18785CF53}"/>
              </a:ext>
            </a:extLst>
          </p:cNvPr>
          <p:cNvSpPr txBox="1"/>
          <p:nvPr/>
        </p:nvSpPr>
        <p:spPr>
          <a:xfrm>
            <a:off x="0" y="277790"/>
            <a:ext cx="12192000" cy="590309"/>
          </a:xfrm>
          <a:prstGeom prst="rect">
            <a:avLst/>
          </a:prstGeom>
          <a:solidFill>
            <a:srgbClr val="1E72B2"/>
          </a:solidFill>
        </p:spPr>
        <p:txBody>
          <a:bodyPr wrap="square" rtlCol="0" anchor="ctr">
            <a:noAutofit/>
          </a:bodyPr>
          <a:lstStyle/>
          <a:p>
            <a:pPr lvl="4">
              <a:spcBef>
                <a:spcPts val="300"/>
              </a:spcBef>
              <a:spcAft>
                <a:spcPts val="300"/>
              </a:spcAft>
            </a:pP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6" name="TextBox 5">
            <a:extLst>
              <a:ext uri="{FF2B5EF4-FFF2-40B4-BE49-F238E27FC236}">
                <a16:creationId xmlns:a16="http://schemas.microsoft.com/office/drawing/2014/main" id="{94CAE161-4032-4C89-AE01-10FAC8201ACC}"/>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5.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Sơ</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đồ</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Use Case</a:t>
            </a:r>
          </a:p>
        </p:txBody>
      </p:sp>
      <p:sp>
        <p:nvSpPr>
          <p:cNvPr id="2" name="Rectangle 1">
            <a:extLst>
              <a:ext uri="{FF2B5EF4-FFF2-40B4-BE49-F238E27FC236}">
                <a16:creationId xmlns:a16="http://schemas.microsoft.com/office/drawing/2014/main" id="{BA3C488C-4B81-EE2F-1AFD-02FFBE702E19}"/>
              </a:ext>
            </a:extLst>
          </p:cNvPr>
          <p:cNvSpPr>
            <a:spLocks noChangeArrowheads="1"/>
          </p:cNvSpPr>
          <p:nvPr/>
        </p:nvSpPr>
        <p:spPr bwMode="auto">
          <a:xfrm>
            <a:off x="0" y="868100"/>
            <a:ext cx="12192000" cy="5989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lvl="1" defTabSz="914400" eaLnBrk="0" fontAlgn="base" hangingPunct="0">
              <a:lnSpc>
                <a:spcPct val="150000"/>
              </a:lnSpc>
              <a:spcBef>
                <a:spcPct val="0"/>
              </a:spcBef>
              <a:spcAft>
                <a:spcPct val="0"/>
              </a:spcAft>
            </a:pP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Tác</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nhân</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chính</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a:t>
            </a:r>
          </a:p>
          <a:p>
            <a:pPr lvl="2" defTabSz="914400" eaLnBrk="0" fontAlgn="base" hangingPunct="0">
              <a:lnSpc>
                <a:spcPct val="150000"/>
              </a:lnSpc>
              <a:spcBef>
                <a:spcPct val="0"/>
              </a:spcBef>
              <a:spcAft>
                <a:spcPct val="0"/>
              </a:spcAft>
            </a:pP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Quản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trị</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viên</a:t>
            </a:r>
            <a:endPar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endParaRPr>
          </a:p>
          <a:p>
            <a:pPr lvl="2" defTabSz="914400" eaLnBrk="0" fontAlgn="base" hangingPunct="0">
              <a:lnSpc>
                <a:spcPct val="150000"/>
              </a:lnSpc>
              <a:spcBef>
                <a:spcPct val="0"/>
              </a:spcBef>
              <a:spcAft>
                <a:spcPct val="0"/>
              </a:spcAft>
            </a:pP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Cán</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bộ</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quản</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lý</a:t>
            </a:r>
            <a:endPar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endParaRPr>
          </a:p>
          <a:p>
            <a:pPr lvl="2" defTabSz="914400" eaLnBrk="0" fontAlgn="base" hangingPunct="0">
              <a:lnSpc>
                <a:spcPct val="150000"/>
              </a:lnSpc>
              <a:spcBef>
                <a:spcPct val="0"/>
              </a:spcBef>
              <a:spcAft>
                <a:spcPct val="0"/>
              </a:spcAft>
            </a:pP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Sinh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viên</a:t>
            </a:r>
            <a:endPar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endParaRPr>
          </a:p>
          <a:p>
            <a:pPr lvl="1" defTabSz="914400" eaLnBrk="0" fontAlgn="base" hangingPunct="0">
              <a:lnSpc>
                <a:spcPct val="150000"/>
              </a:lnSpc>
              <a:spcBef>
                <a:spcPct val="0"/>
              </a:spcBef>
              <a:spcAft>
                <a:spcPct val="0"/>
              </a:spcAft>
            </a:pP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Mỗi</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tác</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nhân</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có</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quyền</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hạn</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riêng</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a:t>
            </a:r>
          </a:p>
          <a:p>
            <a:pPr lvl="2" defTabSz="914400" eaLnBrk="0" fontAlgn="base" hangingPunct="0">
              <a:lnSpc>
                <a:spcPct val="150000"/>
              </a:lnSpc>
              <a:spcBef>
                <a:spcPct val="0"/>
              </a:spcBef>
              <a:spcAft>
                <a:spcPct val="0"/>
              </a:spcAft>
            </a:pP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Quản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lý</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dữ</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liệu</a:t>
            </a:r>
            <a:endPar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endParaRPr>
          </a:p>
          <a:p>
            <a:pPr lvl="2" defTabSz="914400" eaLnBrk="0" fontAlgn="base" hangingPunct="0">
              <a:lnSpc>
                <a:spcPct val="150000"/>
              </a:lnSpc>
              <a:spcBef>
                <a:spcPct val="0"/>
              </a:spcBef>
              <a:spcAft>
                <a:spcPct val="0"/>
              </a:spcAft>
            </a:pP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Tra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cứu</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thông</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tin</a:t>
            </a:r>
          </a:p>
          <a:p>
            <a:pPr lvl="2" defTabSz="914400" eaLnBrk="0" fontAlgn="base" hangingPunct="0">
              <a:lnSpc>
                <a:spcPct val="150000"/>
              </a:lnSpc>
              <a:spcBef>
                <a:spcPct val="0"/>
              </a:spcBef>
              <a:spcAft>
                <a:spcPct val="0"/>
              </a:spcAft>
            </a:pP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Cập</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nhật</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thông</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tin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cá</a:t>
            </a:r>
            <a:r>
              <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rPr>
              <a:t> </a:t>
            </a:r>
            <a:r>
              <a:rPr kumimoji="0" lang="en-US" altLang="en-US" sz="2800" i="0" u="none" strike="noStrike" cap="none" normalizeH="0" baseline="0" dirty="0" err="1">
                <a:ln>
                  <a:noFill/>
                </a:ln>
                <a:solidFill>
                  <a:schemeClr val="bg1"/>
                </a:solidFill>
                <a:effectLst>
                  <a:outerShdw blurRad="38100" dist="38100" dir="2700000" algn="tl">
                    <a:srgbClr val="000000">
                      <a:alpha val="43137"/>
                    </a:srgbClr>
                  </a:outerShdw>
                </a:effectLst>
                <a:latin typeface="Bahnschrift" panose="020B0502040204020203" pitchFamily="34" charset="0"/>
              </a:rPr>
              <a:t>nhân</a:t>
            </a:r>
            <a:endParaRPr kumimoji="0" lang="en-US" altLang="en-US" sz="2800" i="0" u="none" strike="noStrike" cap="none" normalizeH="0" baseline="0" dirty="0">
              <a:ln>
                <a:noFill/>
              </a:ln>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5" name="Slide Number Placeholder 4">
            <a:extLst>
              <a:ext uri="{FF2B5EF4-FFF2-40B4-BE49-F238E27FC236}">
                <a16:creationId xmlns:a16="http://schemas.microsoft.com/office/drawing/2014/main" id="{4346E879-2502-7ADF-2A4C-6A04A5FE02EB}"/>
              </a:ext>
            </a:extLst>
          </p:cNvPr>
          <p:cNvSpPr>
            <a:spLocks noGrp="1"/>
          </p:cNvSpPr>
          <p:nvPr>
            <p:ph type="sldNum" sz="quarter" idx="12"/>
          </p:nvPr>
        </p:nvSpPr>
        <p:spPr/>
        <p:txBody>
          <a:bodyPr/>
          <a:lstStyle/>
          <a:p>
            <a:fld id="{8EF1165B-0F1E-4C09-B047-A6274DCC401D}" type="slidenum">
              <a:rPr lang="en-US" smtClean="0"/>
              <a:t>7</a:t>
            </a:fld>
            <a:endParaRPr lang="en-US"/>
          </a:p>
        </p:txBody>
      </p:sp>
    </p:spTree>
    <p:extLst>
      <p:ext uri="{BB962C8B-B14F-4D97-AF65-F5344CB8AC3E}">
        <p14:creationId xmlns:p14="http://schemas.microsoft.com/office/powerpoint/2010/main" val="3696243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08367-8F62-571B-12E8-3DD7DA3F889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E0E42EA-F849-73BC-1625-9D57A9E23A11}"/>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5.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Sơ</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đồ</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Use Case</a:t>
            </a:r>
          </a:p>
        </p:txBody>
      </p:sp>
      <p:pic>
        <p:nvPicPr>
          <p:cNvPr id="3" name="Picture 2">
            <a:extLst>
              <a:ext uri="{FF2B5EF4-FFF2-40B4-BE49-F238E27FC236}">
                <a16:creationId xmlns:a16="http://schemas.microsoft.com/office/drawing/2014/main" id="{E0CD5051-5DE6-8BD2-D928-5A6ADE5018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2092" y="1078685"/>
            <a:ext cx="8067811" cy="4911215"/>
          </a:xfrm>
          <a:prstGeom prst="rect">
            <a:avLst/>
          </a:prstGeom>
        </p:spPr>
      </p:pic>
      <p:sp>
        <p:nvSpPr>
          <p:cNvPr id="4" name="Rectangle 4">
            <a:extLst>
              <a:ext uri="{FF2B5EF4-FFF2-40B4-BE49-F238E27FC236}">
                <a16:creationId xmlns:a16="http://schemas.microsoft.com/office/drawing/2014/main" id="{0FC22CC3-C158-ADDA-97A3-90C91159416F}"/>
              </a:ext>
            </a:extLst>
          </p:cNvPr>
          <p:cNvSpPr>
            <a:spLocks noChangeArrowheads="1"/>
          </p:cNvSpPr>
          <p:nvPr/>
        </p:nvSpPr>
        <p:spPr bwMode="auto">
          <a:xfrm>
            <a:off x="-1" y="5989900"/>
            <a:ext cx="12191999" cy="86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algn="ct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Use Case Quản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trị</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viên</a:t>
            </a:r>
            <a:endParaRPr lang="vi-VN" sz="2800"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5" name="Slide Number Placeholder 4">
            <a:extLst>
              <a:ext uri="{FF2B5EF4-FFF2-40B4-BE49-F238E27FC236}">
                <a16:creationId xmlns:a16="http://schemas.microsoft.com/office/drawing/2014/main" id="{F40CC3B1-4288-6F21-AB09-7297BEEFDDDE}"/>
              </a:ext>
            </a:extLst>
          </p:cNvPr>
          <p:cNvSpPr>
            <a:spLocks noGrp="1"/>
          </p:cNvSpPr>
          <p:nvPr>
            <p:ph type="sldNum" sz="quarter" idx="12"/>
          </p:nvPr>
        </p:nvSpPr>
        <p:spPr/>
        <p:txBody>
          <a:bodyPr/>
          <a:lstStyle/>
          <a:p>
            <a:fld id="{8EF1165B-0F1E-4C09-B047-A6274DCC401D}" type="slidenum">
              <a:rPr lang="en-US" smtClean="0"/>
              <a:t>8</a:t>
            </a:fld>
            <a:endParaRPr lang="en-US"/>
          </a:p>
        </p:txBody>
      </p:sp>
    </p:spTree>
    <p:extLst>
      <p:ext uri="{BB962C8B-B14F-4D97-AF65-F5344CB8AC3E}">
        <p14:creationId xmlns:p14="http://schemas.microsoft.com/office/powerpoint/2010/main" val="637522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arn(inVertic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9A91B-2EA5-974D-C0C1-464D235A708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4D1A889-9C45-4068-8427-49349B1F799B}"/>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5.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Sơ</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đồ</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Use Case</a:t>
            </a:r>
          </a:p>
        </p:txBody>
      </p:sp>
      <p:sp>
        <p:nvSpPr>
          <p:cNvPr id="4" name="Rectangle 4">
            <a:extLst>
              <a:ext uri="{FF2B5EF4-FFF2-40B4-BE49-F238E27FC236}">
                <a16:creationId xmlns:a16="http://schemas.microsoft.com/office/drawing/2014/main" id="{18432826-1966-4113-7E0B-ACCC4E08D828}"/>
              </a:ext>
            </a:extLst>
          </p:cNvPr>
          <p:cNvSpPr>
            <a:spLocks noChangeArrowheads="1"/>
          </p:cNvSpPr>
          <p:nvPr/>
        </p:nvSpPr>
        <p:spPr bwMode="auto">
          <a:xfrm>
            <a:off x="0" y="5989900"/>
            <a:ext cx="6096000" cy="86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algn="ct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Use Case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Cán</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bộ</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quản</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lý</a:t>
            </a:r>
            <a:endParaRPr lang="vi-VN" sz="2800"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pic>
        <p:nvPicPr>
          <p:cNvPr id="5" name="Picture 4">
            <a:extLst>
              <a:ext uri="{FF2B5EF4-FFF2-40B4-BE49-F238E27FC236}">
                <a16:creationId xmlns:a16="http://schemas.microsoft.com/office/drawing/2014/main" id="{5602C588-E735-3D5A-8436-F76D6FA588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190" y="1181499"/>
            <a:ext cx="5155262" cy="4808401"/>
          </a:xfrm>
          <a:prstGeom prst="rect">
            <a:avLst/>
          </a:prstGeom>
        </p:spPr>
      </p:pic>
      <p:pic>
        <p:nvPicPr>
          <p:cNvPr id="8" name="Picture 7">
            <a:extLst>
              <a:ext uri="{FF2B5EF4-FFF2-40B4-BE49-F238E27FC236}">
                <a16:creationId xmlns:a16="http://schemas.microsoft.com/office/drawing/2014/main" id="{291468B3-EBDA-B6DE-DA9D-03D29BA541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87549" y="1181498"/>
            <a:ext cx="5293674" cy="4808401"/>
          </a:xfrm>
          <a:prstGeom prst="rect">
            <a:avLst/>
          </a:prstGeom>
        </p:spPr>
      </p:pic>
      <p:sp>
        <p:nvSpPr>
          <p:cNvPr id="10" name="Rectangle 4">
            <a:extLst>
              <a:ext uri="{FF2B5EF4-FFF2-40B4-BE49-F238E27FC236}">
                <a16:creationId xmlns:a16="http://schemas.microsoft.com/office/drawing/2014/main" id="{5DE1DFB6-BCF5-5B6A-56C9-9EB8DD12B14A}"/>
              </a:ext>
            </a:extLst>
          </p:cNvPr>
          <p:cNvSpPr>
            <a:spLocks noChangeArrowheads="1"/>
          </p:cNvSpPr>
          <p:nvPr/>
        </p:nvSpPr>
        <p:spPr bwMode="auto">
          <a:xfrm>
            <a:off x="6096000" y="5989900"/>
            <a:ext cx="6096000" cy="86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algn="ct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Use Case Sinh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viên</a:t>
            </a:r>
            <a:endParaRPr lang="vi-VN" sz="2800"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3" name="Slide Number Placeholder 2">
            <a:extLst>
              <a:ext uri="{FF2B5EF4-FFF2-40B4-BE49-F238E27FC236}">
                <a16:creationId xmlns:a16="http://schemas.microsoft.com/office/drawing/2014/main" id="{5168AB3D-3A86-3215-99D6-DCFFBEFA3E22}"/>
              </a:ext>
            </a:extLst>
          </p:cNvPr>
          <p:cNvSpPr>
            <a:spLocks noGrp="1"/>
          </p:cNvSpPr>
          <p:nvPr>
            <p:ph type="sldNum" sz="quarter" idx="12"/>
          </p:nvPr>
        </p:nvSpPr>
        <p:spPr/>
        <p:txBody>
          <a:bodyPr/>
          <a:lstStyle/>
          <a:p>
            <a:fld id="{8EF1165B-0F1E-4C09-B047-A6274DCC401D}" type="slidenum">
              <a:rPr lang="en-US" smtClean="0"/>
              <a:t>9</a:t>
            </a:fld>
            <a:endParaRPr lang="en-US"/>
          </a:p>
        </p:txBody>
      </p:sp>
    </p:spTree>
    <p:extLst>
      <p:ext uri="{BB962C8B-B14F-4D97-AF65-F5344CB8AC3E}">
        <p14:creationId xmlns:p14="http://schemas.microsoft.com/office/powerpoint/2010/main" val="3991217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1+#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1+#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A9BF6-6A70-2828-6E09-516A5C77797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4E14D8D-F916-C9EB-E9DA-84875721E792}"/>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6" name="TextBox 5">
            <a:extLst>
              <a:ext uri="{FF2B5EF4-FFF2-40B4-BE49-F238E27FC236}">
                <a16:creationId xmlns:a16="http://schemas.microsoft.com/office/drawing/2014/main" id="{3BCD09BB-6E6A-CB14-DEEB-5A6B72841C6A}"/>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6.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Sơ</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đồ</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EERD</a:t>
            </a:r>
          </a:p>
        </p:txBody>
      </p:sp>
      <p:sp>
        <p:nvSpPr>
          <p:cNvPr id="4" name="Rectangle 4">
            <a:extLst>
              <a:ext uri="{FF2B5EF4-FFF2-40B4-BE49-F238E27FC236}">
                <a16:creationId xmlns:a16="http://schemas.microsoft.com/office/drawing/2014/main" id="{70B95705-07F3-033D-77DD-F2CB13C4561D}"/>
              </a:ext>
            </a:extLst>
          </p:cNvPr>
          <p:cNvSpPr>
            <a:spLocks noChangeArrowheads="1"/>
          </p:cNvSpPr>
          <p:nvPr/>
        </p:nvSpPr>
        <p:spPr bwMode="auto">
          <a:xfrm>
            <a:off x="0" y="5989900"/>
            <a:ext cx="12192000" cy="86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algn="ct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Sơ</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đồ</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EERD</a:t>
            </a:r>
            <a:endParaRPr lang="vi-VN" sz="2800"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pic>
        <p:nvPicPr>
          <p:cNvPr id="5" name="Picture 4">
            <a:extLst>
              <a:ext uri="{FF2B5EF4-FFF2-40B4-BE49-F238E27FC236}">
                <a16:creationId xmlns:a16="http://schemas.microsoft.com/office/drawing/2014/main" id="{AF458F38-F3A3-4AF4-A624-923305B87C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9393" y="1125037"/>
            <a:ext cx="8573213" cy="4864863"/>
          </a:xfrm>
          <a:prstGeom prst="rect">
            <a:avLst/>
          </a:prstGeom>
        </p:spPr>
      </p:pic>
      <p:sp>
        <p:nvSpPr>
          <p:cNvPr id="3" name="Slide Number Placeholder 2">
            <a:extLst>
              <a:ext uri="{FF2B5EF4-FFF2-40B4-BE49-F238E27FC236}">
                <a16:creationId xmlns:a16="http://schemas.microsoft.com/office/drawing/2014/main" id="{895FCB0A-2692-8B4A-CC9F-979C9FB5E290}"/>
              </a:ext>
            </a:extLst>
          </p:cNvPr>
          <p:cNvSpPr>
            <a:spLocks noGrp="1"/>
          </p:cNvSpPr>
          <p:nvPr>
            <p:ph type="sldNum" sz="quarter" idx="12"/>
          </p:nvPr>
        </p:nvSpPr>
        <p:spPr/>
        <p:txBody>
          <a:bodyPr/>
          <a:lstStyle/>
          <a:p>
            <a:fld id="{8EF1165B-0F1E-4C09-B047-A6274DCC401D}" type="slidenum">
              <a:rPr lang="en-US" smtClean="0"/>
              <a:t>10</a:t>
            </a:fld>
            <a:endParaRPr lang="en-US"/>
          </a:p>
        </p:txBody>
      </p:sp>
    </p:spTree>
    <p:extLst>
      <p:ext uri="{BB962C8B-B14F-4D97-AF65-F5344CB8AC3E}">
        <p14:creationId xmlns:p14="http://schemas.microsoft.com/office/powerpoint/2010/main" val="3862524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6" presetClass="entr" presetSubtype="21"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911F8-2717-FA3D-AACB-062CC5634FF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B6D854B-6743-7970-F605-310E76AFB00A}"/>
              </a:ext>
            </a:extLst>
          </p:cNvPr>
          <p:cNvSpPr txBox="1"/>
          <p:nvPr/>
        </p:nvSpPr>
        <p:spPr>
          <a:xfrm>
            <a:off x="0" y="277791"/>
            <a:ext cx="12192000" cy="590309"/>
          </a:xfrm>
          <a:prstGeom prst="rect">
            <a:avLst/>
          </a:prstGeom>
          <a:solidFill>
            <a:srgbClr val="1E72B2"/>
          </a:solidFill>
        </p:spPr>
        <p:txBody>
          <a:bodyPr wrap="square" rtlCol="0" anchor="ctr">
            <a:noAutofit/>
          </a:bodyPr>
          <a:lstStyle/>
          <a:p>
            <a:pPr lvl="4">
              <a:spcBef>
                <a:spcPts val="300"/>
              </a:spcBef>
              <a:spcAft>
                <a:spcPts val="300"/>
              </a:spcAft>
            </a:pP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6" name="TextBox 5">
            <a:extLst>
              <a:ext uri="{FF2B5EF4-FFF2-40B4-BE49-F238E27FC236}">
                <a16:creationId xmlns:a16="http://schemas.microsoft.com/office/drawing/2014/main" id="{3F8B76A2-E47D-406E-8B84-A5D82E497A61}"/>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7.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Thiết</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kế</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giao</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diện</a:t>
            </a: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pic>
        <p:nvPicPr>
          <p:cNvPr id="1026" name="Picture 1">
            <a:extLst>
              <a:ext uri="{FF2B5EF4-FFF2-40B4-BE49-F238E27FC236}">
                <a16:creationId xmlns:a16="http://schemas.microsoft.com/office/drawing/2014/main" id="{EB16A77A-C9C7-F325-2AF7-00DF3A23B4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797" y="1528018"/>
            <a:ext cx="5228152" cy="296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4">
            <a:extLst>
              <a:ext uri="{FF2B5EF4-FFF2-40B4-BE49-F238E27FC236}">
                <a16:creationId xmlns:a16="http://schemas.microsoft.com/office/drawing/2014/main" id="{5DDAF056-D9BF-14E1-A2CB-4AEDADF4937B}"/>
              </a:ext>
            </a:extLst>
          </p:cNvPr>
          <p:cNvSpPr>
            <a:spLocks noChangeArrowheads="1"/>
          </p:cNvSpPr>
          <p:nvPr/>
        </p:nvSpPr>
        <p:spPr bwMode="auto">
          <a:xfrm>
            <a:off x="0" y="4991672"/>
            <a:ext cx="6096000" cy="86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algn="ct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Trang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chủ</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Đơn</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vị</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thực</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tập</a:t>
            </a:r>
            <a:endParaRPr lang="en-US" sz="2800" dirty="0">
              <a:solidFill>
                <a:schemeClr val="bg1"/>
              </a:solidFill>
              <a:effectLst>
                <a:outerShdw blurRad="38100" dist="38100" dir="2700000" algn="tl">
                  <a:srgbClr val="000000">
                    <a:alpha val="43137"/>
                  </a:srgbClr>
                </a:outerShdw>
              </a:effectLst>
              <a:latin typeface="Bahnschrift" panose="020B0502040204020203" pitchFamily="34" charset="0"/>
            </a:endParaRPr>
          </a:p>
          <a:p>
            <a:pPr algn="ct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Sinh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viên</a:t>
            </a:r>
            <a:endParaRPr lang="vi-VN" sz="2800"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4" name="Slide Number Placeholder 3">
            <a:extLst>
              <a:ext uri="{FF2B5EF4-FFF2-40B4-BE49-F238E27FC236}">
                <a16:creationId xmlns:a16="http://schemas.microsoft.com/office/drawing/2014/main" id="{B8AA6847-C0C9-60EB-4BCA-9B7A7C597833}"/>
              </a:ext>
            </a:extLst>
          </p:cNvPr>
          <p:cNvSpPr>
            <a:spLocks noGrp="1"/>
          </p:cNvSpPr>
          <p:nvPr>
            <p:ph type="sldNum" sz="quarter" idx="12"/>
          </p:nvPr>
        </p:nvSpPr>
        <p:spPr/>
        <p:txBody>
          <a:bodyPr/>
          <a:lstStyle/>
          <a:p>
            <a:fld id="{8EF1165B-0F1E-4C09-B047-A6274DCC401D}" type="slidenum">
              <a:rPr lang="en-US" smtClean="0"/>
              <a:t>11</a:t>
            </a:fld>
            <a:endParaRPr lang="en-US"/>
          </a:p>
        </p:txBody>
      </p:sp>
      <p:pic>
        <p:nvPicPr>
          <p:cNvPr id="5" name="Picture 4">
            <a:extLst>
              <a:ext uri="{FF2B5EF4-FFF2-40B4-BE49-F238E27FC236}">
                <a16:creationId xmlns:a16="http://schemas.microsoft.com/office/drawing/2014/main" id="{9AC5F594-F060-A723-8A28-C8117C5ACB1F}"/>
              </a:ext>
            </a:extLst>
          </p:cNvPr>
          <p:cNvPicPr>
            <a:picLocks noChangeAspect="1"/>
          </p:cNvPicPr>
          <p:nvPr/>
        </p:nvPicPr>
        <p:blipFill>
          <a:blip r:embed="rId4"/>
          <a:stretch>
            <a:fillRect/>
          </a:stretch>
        </p:blipFill>
        <p:spPr>
          <a:xfrm>
            <a:off x="6414053" y="1528018"/>
            <a:ext cx="5183862" cy="2967076"/>
          </a:xfrm>
          <a:prstGeom prst="rect">
            <a:avLst/>
          </a:prstGeom>
        </p:spPr>
      </p:pic>
      <p:sp>
        <p:nvSpPr>
          <p:cNvPr id="7" name="Rectangle 4">
            <a:extLst>
              <a:ext uri="{FF2B5EF4-FFF2-40B4-BE49-F238E27FC236}">
                <a16:creationId xmlns:a16="http://schemas.microsoft.com/office/drawing/2014/main" id="{7701EC0A-ED04-BD88-F961-6E7F868C2634}"/>
              </a:ext>
            </a:extLst>
          </p:cNvPr>
          <p:cNvSpPr>
            <a:spLocks noChangeArrowheads="1"/>
          </p:cNvSpPr>
          <p:nvPr/>
        </p:nvSpPr>
        <p:spPr bwMode="auto">
          <a:xfrm>
            <a:off x="6096000" y="4991672"/>
            <a:ext cx="5970105" cy="86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algn="ct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Trang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chủ</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Quản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lý</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đơn</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vị</a:t>
            </a:r>
            <a:endParaRPr lang="en-US" sz="2800" dirty="0">
              <a:solidFill>
                <a:schemeClr val="bg1"/>
              </a:solidFill>
              <a:effectLst>
                <a:outerShdw blurRad="38100" dist="38100" dir="2700000" algn="tl">
                  <a:srgbClr val="000000">
                    <a:alpha val="43137"/>
                  </a:srgbClr>
                </a:outerShdw>
              </a:effectLst>
              <a:latin typeface="Bahnschrift" panose="020B0502040204020203" pitchFamily="34" charset="0"/>
            </a:endParaRPr>
          </a:p>
          <a:p>
            <a:pPr algn="ct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Cán</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bộ</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quản</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lý</a:t>
            </a:r>
            <a:endParaRPr lang="vi-VN" sz="2800"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Tree>
    <p:extLst>
      <p:ext uri="{BB962C8B-B14F-4D97-AF65-F5344CB8AC3E}">
        <p14:creationId xmlns:p14="http://schemas.microsoft.com/office/powerpoint/2010/main" val="308796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6" presetClass="entr" presetSubtype="21" fill="hold" nodeType="after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barn(inVertical)">
                                      <p:cBhvr>
                                        <p:cTn id="12" dur="500"/>
                                        <p:tgtEl>
                                          <p:spTgt spid="1026"/>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par>
                                <p:cTn id="16" presetID="16" presetClass="entr" presetSubtype="21"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arn(inVertical)">
                                      <p:cBhvr>
                                        <p:cTn id="18" dur="500"/>
                                        <p:tgtEl>
                                          <p:spTgt spid="5"/>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inVertical)">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DB1A-C545-F62A-23B5-9712327706A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3BC0E91-468A-19F2-8041-2F112F797AE8}"/>
              </a:ext>
            </a:extLst>
          </p:cNvPr>
          <p:cNvSpPr txBox="1"/>
          <p:nvPr/>
        </p:nvSpPr>
        <p:spPr>
          <a:xfrm>
            <a:off x="0" y="277791"/>
            <a:ext cx="12192000" cy="590309"/>
          </a:xfrm>
          <a:prstGeom prst="rect">
            <a:avLst/>
          </a:prstGeom>
          <a:solidFill>
            <a:srgbClr val="1E72B2"/>
          </a:solidFill>
        </p:spPr>
        <p:txBody>
          <a:bodyPr wrap="square" rtlCol="0" anchor="ctr">
            <a:noAutofit/>
          </a:bodyPr>
          <a:lstStyle/>
          <a:p>
            <a:pPr lvl="4">
              <a:spcBef>
                <a:spcPts val="300"/>
              </a:spcBef>
              <a:spcAft>
                <a:spcPts val="300"/>
              </a:spcAft>
            </a:pP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6" name="TextBox 5">
            <a:extLst>
              <a:ext uri="{FF2B5EF4-FFF2-40B4-BE49-F238E27FC236}">
                <a16:creationId xmlns:a16="http://schemas.microsoft.com/office/drawing/2014/main" id="{FE0DBDB0-C13C-2F26-B84C-82804A6B9053}"/>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8.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Kiểm</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thử</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và</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đánh</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giá</a:t>
            </a: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8" name="TextBox 7">
            <a:extLst>
              <a:ext uri="{FF2B5EF4-FFF2-40B4-BE49-F238E27FC236}">
                <a16:creationId xmlns:a16="http://schemas.microsoft.com/office/drawing/2014/main" id="{B28C0F4D-52C2-830D-F250-02192D4C63DA}"/>
              </a:ext>
            </a:extLst>
          </p:cNvPr>
          <p:cNvSpPr txBox="1"/>
          <p:nvPr/>
        </p:nvSpPr>
        <p:spPr>
          <a:xfrm>
            <a:off x="0" y="952449"/>
            <a:ext cx="12192000" cy="662938"/>
          </a:xfrm>
          <a:prstGeom prst="rect">
            <a:avLst/>
          </a:prstGeom>
          <a:noFill/>
        </p:spPr>
        <p:txBody>
          <a:bodyPr wrap="square">
            <a:spAutoFit/>
          </a:bodyPr>
          <a:lstStyle/>
          <a:p>
            <a:pPr lvl="1">
              <a:lnSpc>
                <a:spcPct val="150000"/>
              </a:lnSpc>
            </a:pP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Backend</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Kiểm</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thử</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API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bằng</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Postman</a:t>
            </a:r>
          </a:p>
        </p:txBody>
      </p:sp>
      <p:pic>
        <p:nvPicPr>
          <p:cNvPr id="2050" name="Picture 1">
            <a:extLst>
              <a:ext uri="{FF2B5EF4-FFF2-40B4-BE49-F238E27FC236}">
                <a16:creationId xmlns:a16="http://schemas.microsoft.com/office/drawing/2014/main" id="{251018E9-18D0-7C25-2D84-6FFD61E81C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7734" y="1615387"/>
            <a:ext cx="7816532" cy="437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4">
            <a:extLst>
              <a:ext uri="{FF2B5EF4-FFF2-40B4-BE49-F238E27FC236}">
                <a16:creationId xmlns:a16="http://schemas.microsoft.com/office/drawing/2014/main" id="{03451805-71F0-7AB6-36D3-9760B32DA5B7}"/>
              </a:ext>
            </a:extLst>
          </p:cNvPr>
          <p:cNvSpPr>
            <a:spLocks noChangeArrowheads="1"/>
          </p:cNvSpPr>
          <p:nvPr/>
        </p:nvSpPr>
        <p:spPr bwMode="auto">
          <a:xfrm>
            <a:off x="0" y="5989900"/>
            <a:ext cx="12192000" cy="86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algn="ct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API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Đăng</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nhập</a:t>
            </a:r>
            <a:endParaRPr lang="vi-VN" sz="2800"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4" name="Slide Number Placeholder 3">
            <a:extLst>
              <a:ext uri="{FF2B5EF4-FFF2-40B4-BE49-F238E27FC236}">
                <a16:creationId xmlns:a16="http://schemas.microsoft.com/office/drawing/2014/main" id="{BBF48802-A5D7-FDD3-0FFC-F8B7FAF76BC6}"/>
              </a:ext>
            </a:extLst>
          </p:cNvPr>
          <p:cNvSpPr>
            <a:spLocks noGrp="1"/>
          </p:cNvSpPr>
          <p:nvPr>
            <p:ph type="sldNum" sz="quarter" idx="12"/>
          </p:nvPr>
        </p:nvSpPr>
        <p:spPr/>
        <p:txBody>
          <a:bodyPr/>
          <a:lstStyle/>
          <a:p>
            <a:fld id="{8EF1165B-0F1E-4C09-B047-A6274DCC401D}" type="slidenum">
              <a:rPr lang="en-US" smtClean="0"/>
              <a:t>12</a:t>
            </a:fld>
            <a:endParaRPr lang="en-US"/>
          </a:p>
        </p:txBody>
      </p:sp>
    </p:spTree>
    <p:extLst>
      <p:ext uri="{BB962C8B-B14F-4D97-AF65-F5344CB8AC3E}">
        <p14:creationId xmlns:p14="http://schemas.microsoft.com/office/powerpoint/2010/main" val="3300601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par>
                          <p:cTn id="13" fill="hold">
                            <p:stCondLst>
                              <p:cond delay="1000"/>
                            </p:stCondLst>
                            <p:childTnLst>
                              <p:par>
                                <p:cTn id="14" presetID="16" presetClass="entr" presetSubtype="21" fill="hold" nodeType="afterEffect">
                                  <p:stCondLst>
                                    <p:cond delay="0"/>
                                  </p:stCondLst>
                                  <p:childTnLst>
                                    <p:set>
                                      <p:cBhvr>
                                        <p:cTn id="15" dur="1" fill="hold">
                                          <p:stCondLst>
                                            <p:cond delay="0"/>
                                          </p:stCondLst>
                                        </p:cTn>
                                        <p:tgtEl>
                                          <p:spTgt spid="2050"/>
                                        </p:tgtEl>
                                        <p:attrNameLst>
                                          <p:attrName>style.visibility</p:attrName>
                                        </p:attrNameLst>
                                      </p:cBhvr>
                                      <p:to>
                                        <p:strVal val="visible"/>
                                      </p:to>
                                    </p:set>
                                    <p:animEffect transition="in" filter="barn(inVertical)">
                                      <p:cBhvr>
                                        <p:cTn id="16" dur="500"/>
                                        <p:tgtEl>
                                          <p:spTgt spid="2050"/>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arn(inVertic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186B0-D45C-F90F-633A-0AFD5BB37F2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9680389-2823-924F-9CAE-74AE780DF004}"/>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8.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Kiểm</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thử</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và</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đánh</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giá</a:t>
            </a: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8" name="TextBox 7">
            <a:extLst>
              <a:ext uri="{FF2B5EF4-FFF2-40B4-BE49-F238E27FC236}">
                <a16:creationId xmlns:a16="http://schemas.microsoft.com/office/drawing/2014/main" id="{2B453349-F184-D35A-7771-51D8749D297C}"/>
              </a:ext>
            </a:extLst>
          </p:cNvPr>
          <p:cNvSpPr txBox="1"/>
          <p:nvPr/>
        </p:nvSpPr>
        <p:spPr>
          <a:xfrm>
            <a:off x="0" y="952449"/>
            <a:ext cx="12192000" cy="662938"/>
          </a:xfrm>
          <a:prstGeom prst="rect">
            <a:avLst/>
          </a:prstGeom>
          <a:noFill/>
        </p:spPr>
        <p:txBody>
          <a:bodyPr wrap="square">
            <a:spAutoFit/>
          </a:bodyPr>
          <a:lstStyle/>
          <a:p>
            <a:pPr lvl="1">
              <a:lnSpc>
                <a:spcPct val="150000"/>
              </a:lnSpc>
            </a:pP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Backend</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Kiểm</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thử</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API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bằng</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Postman</a:t>
            </a:r>
          </a:p>
        </p:txBody>
      </p:sp>
      <p:sp>
        <p:nvSpPr>
          <p:cNvPr id="2" name="Rectangle 4">
            <a:extLst>
              <a:ext uri="{FF2B5EF4-FFF2-40B4-BE49-F238E27FC236}">
                <a16:creationId xmlns:a16="http://schemas.microsoft.com/office/drawing/2014/main" id="{22FD28DE-7250-7583-8417-5468CAAB5AD5}"/>
              </a:ext>
            </a:extLst>
          </p:cNvPr>
          <p:cNvSpPr>
            <a:spLocks noChangeArrowheads="1"/>
          </p:cNvSpPr>
          <p:nvPr/>
        </p:nvSpPr>
        <p:spPr bwMode="auto">
          <a:xfrm>
            <a:off x="0" y="5989900"/>
            <a:ext cx="12192000" cy="86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algn="ct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API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Thêm</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đơn</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vị</a:t>
            </a:r>
            <a:endParaRPr lang="vi-VN" sz="2800"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pic>
        <p:nvPicPr>
          <p:cNvPr id="3074" name="Picture 1">
            <a:extLst>
              <a:ext uri="{FF2B5EF4-FFF2-40B4-BE49-F238E27FC236}">
                <a16:creationId xmlns:a16="http://schemas.microsoft.com/office/drawing/2014/main" id="{24A5ACD7-6600-8E5C-9668-E37120D129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6940" y="1615387"/>
            <a:ext cx="7818120" cy="4374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0D8D4F0F-A375-DA07-193C-591BFE2A5637}"/>
              </a:ext>
            </a:extLst>
          </p:cNvPr>
          <p:cNvSpPr>
            <a:spLocks noGrp="1"/>
          </p:cNvSpPr>
          <p:nvPr>
            <p:ph type="sldNum" sz="quarter" idx="12"/>
          </p:nvPr>
        </p:nvSpPr>
        <p:spPr/>
        <p:txBody>
          <a:bodyPr/>
          <a:lstStyle/>
          <a:p>
            <a:fld id="{8EF1165B-0F1E-4C09-B047-A6274DCC401D}" type="slidenum">
              <a:rPr lang="en-US" smtClean="0"/>
              <a:t>13</a:t>
            </a:fld>
            <a:endParaRPr lang="en-US"/>
          </a:p>
        </p:txBody>
      </p:sp>
    </p:spTree>
    <p:extLst>
      <p:ext uri="{BB962C8B-B14F-4D97-AF65-F5344CB8AC3E}">
        <p14:creationId xmlns:p14="http://schemas.microsoft.com/office/powerpoint/2010/main" val="3896345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barn(inVertical)">
                                      <p:cBhvr>
                                        <p:cTn id="7" dur="500"/>
                                        <p:tgtEl>
                                          <p:spTgt spid="307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arn(inVertical)">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C6F0D-0C70-AF8B-D391-9893F109BD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014AF34-EDC9-1E52-4ADE-0E5EBE8B13F0}"/>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8.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Kiểm</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thử</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và</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đánh</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giá</a:t>
            </a: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8" name="TextBox 7">
            <a:extLst>
              <a:ext uri="{FF2B5EF4-FFF2-40B4-BE49-F238E27FC236}">
                <a16:creationId xmlns:a16="http://schemas.microsoft.com/office/drawing/2014/main" id="{8594D7D5-5669-DAFB-0249-204843D7E30D}"/>
              </a:ext>
            </a:extLst>
          </p:cNvPr>
          <p:cNvSpPr txBox="1"/>
          <p:nvPr/>
        </p:nvSpPr>
        <p:spPr>
          <a:xfrm>
            <a:off x="0" y="952449"/>
            <a:ext cx="12192000" cy="662938"/>
          </a:xfrm>
          <a:prstGeom prst="rect">
            <a:avLst/>
          </a:prstGeom>
          <a:noFill/>
        </p:spPr>
        <p:txBody>
          <a:bodyPr wrap="square">
            <a:spAutoFit/>
          </a:bodyPr>
          <a:lstStyle/>
          <a:p>
            <a:pPr lvl="1">
              <a:lnSpc>
                <a:spcPct val="150000"/>
              </a:lnSpc>
            </a:pP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Frontend</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Kiểm</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thử</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giao</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diện</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trên</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trình</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duyệt</a:t>
            </a:r>
            <a:endParaRPr lang="en-US" sz="2800"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4" name="Rectangle 4">
            <a:extLst>
              <a:ext uri="{FF2B5EF4-FFF2-40B4-BE49-F238E27FC236}">
                <a16:creationId xmlns:a16="http://schemas.microsoft.com/office/drawing/2014/main" id="{15E2E6A3-E35E-C485-D6D4-6D545283DC06}"/>
              </a:ext>
            </a:extLst>
          </p:cNvPr>
          <p:cNvSpPr>
            <a:spLocks noChangeArrowheads="1"/>
          </p:cNvSpPr>
          <p:nvPr/>
        </p:nvSpPr>
        <p:spPr bwMode="auto">
          <a:xfrm>
            <a:off x="0" y="5989900"/>
            <a:ext cx="12192000" cy="86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algn="ct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Giao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diện</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đăng</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nhập</a:t>
            </a:r>
            <a:endParaRPr lang="vi-VN" sz="2800"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7" name="Slide Number Placeholder 6">
            <a:extLst>
              <a:ext uri="{FF2B5EF4-FFF2-40B4-BE49-F238E27FC236}">
                <a16:creationId xmlns:a16="http://schemas.microsoft.com/office/drawing/2014/main" id="{87E0CC5B-14F7-3B26-C444-D9B2180F4F20}"/>
              </a:ext>
            </a:extLst>
          </p:cNvPr>
          <p:cNvSpPr>
            <a:spLocks noGrp="1"/>
          </p:cNvSpPr>
          <p:nvPr>
            <p:ph type="sldNum" sz="quarter" idx="12"/>
          </p:nvPr>
        </p:nvSpPr>
        <p:spPr/>
        <p:txBody>
          <a:bodyPr/>
          <a:lstStyle/>
          <a:p>
            <a:fld id="{8EF1165B-0F1E-4C09-B047-A6274DCC401D}" type="slidenum">
              <a:rPr lang="en-US" smtClean="0"/>
              <a:t>14</a:t>
            </a:fld>
            <a:endParaRPr lang="en-US"/>
          </a:p>
        </p:txBody>
      </p:sp>
      <p:pic>
        <p:nvPicPr>
          <p:cNvPr id="2" name="Picture 1">
            <a:extLst>
              <a:ext uri="{FF2B5EF4-FFF2-40B4-BE49-F238E27FC236}">
                <a16:creationId xmlns:a16="http://schemas.microsoft.com/office/drawing/2014/main" id="{238F6B21-1736-8FF2-C058-E14B450B7230}"/>
              </a:ext>
            </a:extLst>
          </p:cNvPr>
          <p:cNvPicPr>
            <a:picLocks noChangeAspect="1"/>
          </p:cNvPicPr>
          <p:nvPr/>
        </p:nvPicPr>
        <p:blipFill>
          <a:blip r:embed="rId3"/>
          <a:stretch>
            <a:fillRect/>
          </a:stretch>
        </p:blipFill>
        <p:spPr>
          <a:xfrm>
            <a:off x="2613358" y="1699735"/>
            <a:ext cx="6965284" cy="4290166"/>
          </a:xfrm>
          <a:prstGeom prst="rect">
            <a:avLst/>
          </a:prstGeom>
        </p:spPr>
      </p:pic>
    </p:spTree>
    <p:extLst>
      <p:ext uri="{BB962C8B-B14F-4D97-AF65-F5344CB8AC3E}">
        <p14:creationId xmlns:p14="http://schemas.microsoft.com/office/powerpoint/2010/main" val="3763283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par>
                                <p:cTn id="12" presetID="16" presetClass="entr" presetSubtype="21"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D1605-5334-77A0-3E80-54903C03002F}"/>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803215DF-73FD-7F40-DC0A-4DFB3F15EAA8}"/>
              </a:ext>
            </a:extLst>
          </p:cNvPr>
          <p:cNvPicPr>
            <a:picLocks noChangeAspect="1"/>
          </p:cNvPicPr>
          <p:nvPr/>
        </p:nvPicPr>
        <p:blipFill>
          <a:blip r:embed="rId3"/>
          <a:stretch>
            <a:fillRect/>
          </a:stretch>
        </p:blipFill>
        <p:spPr>
          <a:xfrm>
            <a:off x="2613358" y="1699734"/>
            <a:ext cx="6965284" cy="4290165"/>
          </a:xfrm>
          <a:prstGeom prst="rect">
            <a:avLst/>
          </a:prstGeom>
        </p:spPr>
      </p:pic>
      <p:sp>
        <p:nvSpPr>
          <p:cNvPr id="6" name="TextBox 5">
            <a:extLst>
              <a:ext uri="{FF2B5EF4-FFF2-40B4-BE49-F238E27FC236}">
                <a16:creationId xmlns:a16="http://schemas.microsoft.com/office/drawing/2014/main" id="{599DE58F-48EE-F48F-3930-A83929E8D711}"/>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8.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Kiểm</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thử</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và</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đánh</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giá</a:t>
            </a: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8" name="TextBox 7">
            <a:extLst>
              <a:ext uri="{FF2B5EF4-FFF2-40B4-BE49-F238E27FC236}">
                <a16:creationId xmlns:a16="http://schemas.microsoft.com/office/drawing/2014/main" id="{22ADA52A-9423-A455-A74A-382957942BC0}"/>
              </a:ext>
            </a:extLst>
          </p:cNvPr>
          <p:cNvSpPr txBox="1"/>
          <p:nvPr/>
        </p:nvSpPr>
        <p:spPr>
          <a:xfrm>
            <a:off x="0" y="952449"/>
            <a:ext cx="12192000" cy="662938"/>
          </a:xfrm>
          <a:prstGeom prst="rect">
            <a:avLst/>
          </a:prstGeom>
          <a:noFill/>
        </p:spPr>
        <p:txBody>
          <a:bodyPr wrap="square">
            <a:spAutoFit/>
          </a:bodyPr>
          <a:lstStyle/>
          <a:p>
            <a:pPr lvl="1">
              <a:lnSpc>
                <a:spcPct val="150000"/>
              </a:lnSpc>
            </a:pPr>
            <a:r>
              <a:rPr lang="en-US" sz="2800" b="1" dirty="0">
                <a:solidFill>
                  <a:schemeClr val="bg1"/>
                </a:solidFill>
                <a:effectLst>
                  <a:outerShdw blurRad="38100" dist="38100" dir="2700000" algn="tl">
                    <a:srgbClr val="000000">
                      <a:alpha val="43137"/>
                    </a:srgbClr>
                  </a:outerShdw>
                </a:effectLst>
                <a:latin typeface="Bahnschrift" panose="020B0502040204020203" pitchFamily="34" charset="0"/>
              </a:rPr>
              <a:t>- Frontend</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Kiểm</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thử</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giao</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diện</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trên</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trình</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duyệt</a:t>
            </a:r>
            <a:endParaRPr lang="en-US" sz="2800"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4" name="Rectangle 4">
            <a:extLst>
              <a:ext uri="{FF2B5EF4-FFF2-40B4-BE49-F238E27FC236}">
                <a16:creationId xmlns:a16="http://schemas.microsoft.com/office/drawing/2014/main" id="{FFF5464F-4DCF-3B87-4844-832988D1777C}"/>
              </a:ext>
            </a:extLst>
          </p:cNvPr>
          <p:cNvSpPr>
            <a:spLocks noChangeArrowheads="1"/>
          </p:cNvSpPr>
          <p:nvPr/>
        </p:nvSpPr>
        <p:spPr bwMode="auto">
          <a:xfrm>
            <a:off x="0" y="5989900"/>
            <a:ext cx="12192000" cy="86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algn="ct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Giao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diện</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trang</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chủ</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sinh</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viên</a:t>
            </a:r>
            <a:endParaRPr lang="vi-VN" sz="2800"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7" name="Slide Number Placeholder 6">
            <a:extLst>
              <a:ext uri="{FF2B5EF4-FFF2-40B4-BE49-F238E27FC236}">
                <a16:creationId xmlns:a16="http://schemas.microsoft.com/office/drawing/2014/main" id="{693FA444-38A5-55ED-359A-F67C0D6D9A7E}"/>
              </a:ext>
            </a:extLst>
          </p:cNvPr>
          <p:cNvSpPr>
            <a:spLocks noGrp="1"/>
          </p:cNvSpPr>
          <p:nvPr>
            <p:ph type="sldNum" sz="quarter" idx="12"/>
          </p:nvPr>
        </p:nvSpPr>
        <p:spPr/>
        <p:txBody>
          <a:bodyPr/>
          <a:lstStyle/>
          <a:p>
            <a:fld id="{8EF1165B-0F1E-4C09-B047-A6274DCC401D}" type="slidenum">
              <a:rPr lang="en-US" smtClean="0"/>
              <a:t>15</a:t>
            </a:fld>
            <a:endParaRPr lang="en-US"/>
          </a:p>
        </p:txBody>
      </p:sp>
    </p:spTree>
    <p:extLst>
      <p:ext uri="{BB962C8B-B14F-4D97-AF65-F5344CB8AC3E}">
        <p14:creationId xmlns:p14="http://schemas.microsoft.com/office/powerpoint/2010/main" val="2416387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arn(inVertic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FE78-945F-4E4D-B888-DCBAF226302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F74692-9472-8EA6-F2CC-7E0E2F26946C}"/>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6" name="TextBox 5">
            <a:extLst>
              <a:ext uri="{FF2B5EF4-FFF2-40B4-BE49-F238E27FC236}">
                <a16:creationId xmlns:a16="http://schemas.microsoft.com/office/drawing/2014/main" id="{64F402F5-DD6F-30AF-5808-07DA5B08C7E7}"/>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9.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Kết</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quả</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đạt</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được</a:t>
            </a: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3" name="Slide Number Placeholder 2">
            <a:extLst>
              <a:ext uri="{FF2B5EF4-FFF2-40B4-BE49-F238E27FC236}">
                <a16:creationId xmlns:a16="http://schemas.microsoft.com/office/drawing/2014/main" id="{BBFC5C98-8998-25D6-1A2B-F8B28281B0CF}"/>
              </a:ext>
            </a:extLst>
          </p:cNvPr>
          <p:cNvSpPr>
            <a:spLocks noGrp="1"/>
          </p:cNvSpPr>
          <p:nvPr>
            <p:ph type="sldNum" sz="quarter" idx="12"/>
          </p:nvPr>
        </p:nvSpPr>
        <p:spPr/>
        <p:txBody>
          <a:bodyPr/>
          <a:lstStyle/>
          <a:p>
            <a:fld id="{8EF1165B-0F1E-4C09-B047-A6274DCC401D}" type="slidenum">
              <a:rPr lang="en-US" smtClean="0"/>
              <a:t>16</a:t>
            </a:fld>
            <a:endParaRPr lang="en-US" dirty="0"/>
          </a:p>
        </p:txBody>
      </p:sp>
      <p:sp>
        <p:nvSpPr>
          <p:cNvPr id="4" name="Rectangle 3">
            <a:extLst>
              <a:ext uri="{FF2B5EF4-FFF2-40B4-BE49-F238E27FC236}">
                <a16:creationId xmlns:a16="http://schemas.microsoft.com/office/drawing/2014/main" id="{F899AEFE-D23C-2D30-9752-3C5FEAE609D2}"/>
              </a:ext>
            </a:extLst>
          </p:cNvPr>
          <p:cNvSpPr>
            <a:spLocks noChangeArrowheads="1"/>
          </p:cNvSpPr>
          <p:nvPr/>
        </p:nvSpPr>
        <p:spPr bwMode="auto">
          <a:xfrm>
            <a:off x="0" y="868101"/>
            <a:ext cx="12192000" cy="5989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lvl="1">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Xây</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dựng</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thành</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công</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website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quản</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lý</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thực</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tập</a:t>
            </a:r>
            <a:endParaRPr lang="en-US" sz="2800" dirty="0">
              <a:solidFill>
                <a:schemeClr val="bg1"/>
              </a:solidFill>
              <a:effectLst>
                <a:outerShdw blurRad="38100" dist="38100" dir="2700000" algn="tl">
                  <a:srgbClr val="000000">
                    <a:alpha val="43137"/>
                  </a:srgbClr>
                </a:outerShdw>
              </a:effectLst>
              <a:latin typeface="Bahnschrift" panose="020B0502040204020203" pitchFamily="34" charset="0"/>
            </a:endParaRPr>
          </a:p>
          <a:p>
            <a:pPr lvl="1">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Đáp</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ứng</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đầy</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đủ</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yêu</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cầu</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chức</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năng</a:t>
            </a:r>
            <a:endParaRPr lang="en-US" sz="2800" dirty="0">
              <a:solidFill>
                <a:schemeClr val="bg1"/>
              </a:solidFill>
              <a:effectLst>
                <a:outerShdw blurRad="38100" dist="38100" dir="2700000" algn="tl">
                  <a:srgbClr val="000000">
                    <a:alpha val="43137"/>
                  </a:srgbClr>
                </a:outerShdw>
              </a:effectLst>
              <a:latin typeface="Bahnschrift" panose="020B0502040204020203" pitchFamily="34" charset="0"/>
            </a:endParaRPr>
          </a:p>
          <a:p>
            <a:pPr lvl="1">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Quản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lý</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dữ</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liệu</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tập</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trung</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hiệu</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quả</a:t>
            </a:r>
            <a:endParaRPr lang="en-US" sz="2800" dirty="0">
              <a:solidFill>
                <a:schemeClr val="bg1"/>
              </a:solidFill>
              <a:effectLst>
                <a:outerShdw blurRad="38100" dist="38100" dir="2700000" algn="tl">
                  <a:srgbClr val="000000">
                    <a:alpha val="43137"/>
                  </a:srgbClr>
                </a:outerShdw>
              </a:effectLst>
              <a:latin typeface="Bahnschrift" panose="020B0502040204020203" pitchFamily="34" charset="0"/>
            </a:endParaRPr>
          </a:p>
          <a:p>
            <a:pPr lvl="1">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Có</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tính</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ứng</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dụng</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thực</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tế</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cao</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800" dirty="0" err="1">
                <a:solidFill>
                  <a:schemeClr val="bg1"/>
                </a:solidFill>
                <a:effectLst>
                  <a:outerShdw blurRad="38100" dist="38100" dir="2700000" algn="tl">
                    <a:srgbClr val="000000">
                      <a:alpha val="43137"/>
                    </a:srgbClr>
                  </a:outerShdw>
                </a:effectLst>
                <a:latin typeface="Bahnschrift" panose="020B0502040204020203" pitchFamily="34" charset="0"/>
              </a:rPr>
              <a:t>trong</a:t>
            </a: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Khoa CNTT</a:t>
            </a:r>
          </a:p>
        </p:txBody>
      </p:sp>
      <p:pic>
        <p:nvPicPr>
          <p:cNvPr id="7" name="Picture 6">
            <a:extLst>
              <a:ext uri="{FF2B5EF4-FFF2-40B4-BE49-F238E27FC236}">
                <a16:creationId xmlns:a16="http://schemas.microsoft.com/office/drawing/2014/main" id="{F4356B60-E44D-A6DF-996C-1357CACAF781}"/>
              </a:ext>
            </a:extLst>
          </p:cNvPr>
          <p:cNvPicPr>
            <a:picLocks noChangeAspect="1"/>
          </p:cNvPicPr>
          <p:nvPr/>
        </p:nvPicPr>
        <p:blipFill>
          <a:blip r:embed="rId3"/>
          <a:stretch>
            <a:fillRect/>
          </a:stretch>
        </p:blipFill>
        <p:spPr>
          <a:xfrm>
            <a:off x="6427306" y="3586851"/>
            <a:ext cx="4971565" cy="2549986"/>
          </a:xfrm>
          <a:prstGeom prst="rect">
            <a:avLst/>
          </a:prstGeom>
        </p:spPr>
      </p:pic>
      <p:pic>
        <p:nvPicPr>
          <p:cNvPr id="10" name="Picture 9">
            <a:extLst>
              <a:ext uri="{FF2B5EF4-FFF2-40B4-BE49-F238E27FC236}">
                <a16:creationId xmlns:a16="http://schemas.microsoft.com/office/drawing/2014/main" id="{9952CC72-34B8-1AB7-F3DC-3546910D7B09}"/>
              </a:ext>
            </a:extLst>
          </p:cNvPr>
          <p:cNvPicPr>
            <a:picLocks noChangeAspect="1"/>
          </p:cNvPicPr>
          <p:nvPr/>
        </p:nvPicPr>
        <p:blipFill>
          <a:blip r:embed="rId4"/>
          <a:stretch>
            <a:fillRect/>
          </a:stretch>
        </p:blipFill>
        <p:spPr>
          <a:xfrm>
            <a:off x="793129" y="3618244"/>
            <a:ext cx="4971565" cy="2487200"/>
          </a:xfrm>
          <a:prstGeom prst="rect">
            <a:avLst/>
          </a:prstGeom>
        </p:spPr>
      </p:pic>
      <p:sp>
        <p:nvSpPr>
          <p:cNvPr id="11" name="Rectangle 4">
            <a:extLst>
              <a:ext uri="{FF2B5EF4-FFF2-40B4-BE49-F238E27FC236}">
                <a16:creationId xmlns:a16="http://schemas.microsoft.com/office/drawing/2014/main" id="{3096405B-7172-3624-0529-F56654C83E05}"/>
              </a:ext>
            </a:extLst>
          </p:cNvPr>
          <p:cNvSpPr>
            <a:spLocks noChangeArrowheads="1"/>
          </p:cNvSpPr>
          <p:nvPr/>
        </p:nvSpPr>
        <p:spPr bwMode="auto">
          <a:xfrm>
            <a:off x="0" y="6136838"/>
            <a:ext cx="6096000" cy="72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algn="ctr"/>
            <a:r>
              <a:rPr lang="en-US" sz="2400" dirty="0">
                <a:solidFill>
                  <a:schemeClr val="bg1"/>
                </a:solidFill>
                <a:effectLst>
                  <a:outerShdw blurRad="38100" dist="38100" dir="2700000" algn="tl">
                    <a:srgbClr val="000000">
                      <a:alpha val="43137"/>
                    </a:srgbClr>
                  </a:outerShdw>
                </a:effectLst>
                <a:latin typeface="Bahnschrift" panose="020B0502040204020203" pitchFamily="34" charset="0"/>
              </a:rPr>
              <a:t>Giao </a:t>
            </a:r>
            <a:r>
              <a:rPr lang="en-US" sz="2400" dirty="0" err="1">
                <a:solidFill>
                  <a:schemeClr val="bg1"/>
                </a:solidFill>
                <a:effectLst>
                  <a:outerShdw blurRad="38100" dist="38100" dir="2700000" algn="tl">
                    <a:srgbClr val="000000">
                      <a:alpha val="43137"/>
                    </a:srgbClr>
                  </a:outerShdw>
                </a:effectLst>
                <a:latin typeface="Bahnschrift" panose="020B0502040204020203" pitchFamily="34" charset="0"/>
              </a:rPr>
              <a:t>diện</a:t>
            </a:r>
            <a:r>
              <a:rPr lang="en-US" sz="24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400" dirty="0" err="1">
                <a:solidFill>
                  <a:schemeClr val="bg1"/>
                </a:solidFill>
                <a:effectLst>
                  <a:outerShdw blurRad="38100" dist="38100" dir="2700000" algn="tl">
                    <a:srgbClr val="000000">
                      <a:alpha val="43137"/>
                    </a:srgbClr>
                  </a:outerShdw>
                </a:effectLst>
                <a:latin typeface="Bahnschrift" panose="020B0502040204020203" pitchFamily="34" charset="0"/>
              </a:rPr>
              <a:t>quản</a:t>
            </a:r>
            <a:r>
              <a:rPr lang="en-US" sz="24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400" dirty="0" err="1">
                <a:solidFill>
                  <a:schemeClr val="bg1"/>
                </a:solidFill>
                <a:effectLst>
                  <a:outerShdw blurRad="38100" dist="38100" dir="2700000" algn="tl">
                    <a:srgbClr val="000000">
                      <a:alpha val="43137"/>
                    </a:srgbClr>
                  </a:outerShdw>
                </a:effectLst>
                <a:latin typeface="Bahnschrift" panose="020B0502040204020203" pitchFamily="34" charset="0"/>
              </a:rPr>
              <a:t>lý</a:t>
            </a:r>
            <a:r>
              <a:rPr lang="en-US" sz="24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400" dirty="0" err="1">
                <a:solidFill>
                  <a:schemeClr val="bg1"/>
                </a:solidFill>
                <a:effectLst>
                  <a:outerShdw blurRad="38100" dist="38100" dir="2700000" algn="tl">
                    <a:srgbClr val="000000">
                      <a:alpha val="43137"/>
                    </a:srgbClr>
                  </a:outerShdw>
                </a:effectLst>
                <a:latin typeface="Bahnschrift" panose="020B0502040204020203" pitchFamily="34" charset="0"/>
              </a:rPr>
              <a:t>đơn</a:t>
            </a:r>
            <a:r>
              <a:rPr lang="en-US" sz="24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400" dirty="0" err="1">
                <a:solidFill>
                  <a:schemeClr val="bg1"/>
                </a:solidFill>
                <a:effectLst>
                  <a:outerShdw blurRad="38100" dist="38100" dir="2700000" algn="tl">
                    <a:srgbClr val="000000">
                      <a:alpha val="43137"/>
                    </a:srgbClr>
                  </a:outerShdw>
                </a:effectLst>
                <a:latin typeface="Bahnschrift" panose="020B0502040204020203" pitchFamily="34" charset="0"/>
              </a:rPr>
              <a:t>vị</a:t>
            </a:r>
            <a:endParaRPr lang="vi-VN" sz="2400"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12" name="Rectangle 4">
            <a:extLst>
              <a:ext uri="{FF2B5EF4-FFF2-40B4-BE49-F238E27FC236}">
                <a16:creationId xmlns:a16="http://schemas.microsoft.com/office/drawing/2014/main" id="{DBDD897F-D523-4400-975E-E59522CD1724}"/>
              </a:ext>
            </a:extLst>
          </p:cNvPr>
          <p:cNvSpPr>
            <a:spLocks noChangeArrowheads="1"/>
          </p:cNvSpPr>
          <p:nvPr/>
        </p:nvSpPr>
        <p:spPr bwMode="auto">
          <a:xfrm>
            <a:off x="6096000" y="6136836"/>
            <a:ext cx="6096000" cy="721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algn="ctr"/>
            <a:r>
              <a:rPr lang="en-US" sz="2400" dirty="0">
                <a:solidFill>
                  <a:schemeClr val="bg1"/>
                </a:solidFill>
                <a:effectLst>
                  <a:outerShdw blurRad="38100" dist="38100" dir="2700000" algn="tl">
                    <a:srgbClr val="000000">
                      <a:alpha val="43137"/>
                    </a:srgbClr>
                  </a:outerShdw>
                </a:effectLst>
                <a:latin typeface="Bahnschrift" panose="020B0502040204020203" pitchFamily="34" charset="0"/>
              </a:rPr>
              <a:t>Giao </a:t>
            </a:r>
            <a:r>
              <a:rPr lang="en-US" sz="2400" dirty="0" err="1">
                <a:solidFill>
                  <a:schemeClr val="bg1"/>
                </a:solidFill>
                <a:effectLst>
                  <a:outerShdw blurRad="38100" dist="38100" dir="2700000" algn="tl">
                    <a:srgbClr val="000000">
                      <a:alpha val="43137"/>
                    </a:srgbClr>
                  </a:outerShdw>
                </a:effectLst>
                <a:latin typeface="Bahnschrift" panose="020B0502040204020203" pitchFamily="34" charset="0"/>
              </a:rPr>
              <a:t>diện</a:t>
            </a:r>
            <a:r>
              <a:rPr lang="en-US" sz="24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400" dirty="0" err="1">
                <a:solidFill>
                  <a:schemeClr val="bg1"/>
                </a:solidFill>
                <a:effectLst>
                  <a:outerShdw blurRad="38100" dist="38100" dir="2700000" algn="tl">
                    <a:srgbClr val="000000">
                      <a:alpha val="43137"/>
                    </a:srgbClr>
                  </a:outerShdw>
                </a:effectLst>
                <a:latin typeface="Bahnschrift" panose="020B0502040204020203" pitchFamily="34" charset="0"/>
              </a:rPr>
              <a:t>danh</a:t>
            </a:r>
            <a:r>
              <a:rPr lang="en-US" sz="24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400" dirty="0" err="1">
                <a:solidFill>
                  <a:schemeClr val="bg1"/>
                </a:solidFill>
                <a:effectLst>
                  <a:outerShdw blurRad="38100" dist="38100" dir="2700000" algn="tl">
                    <a:srgbClr val="000000">
                      <a:alpha val="43137"/>
                    </a:srgbClr>
                  </a:outerShdw>
                </a:effectLst>
                <a:latin typeface="Bahnschrift" panose="020B0502040204020203" pitchFamily="34" charset="0"/>
              </a:rPr>
              <a:t>sách</a:t>
            </a:r>
            <a:r>
              <a:rPr lang="en-US" sz="24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400" dirty="0" err="1">
                <a:solidFill>
                  <a:schemeClr val="bg1"/>
                </a:solidFill>
                <a:effectLst>
                  <a:outerShdw blurRad="38100" dist="38100" dir="2700000" algn="tl">
                    <a:srgbClr val="000000">
                      <a:alpha val="43137"/>
                    </a:srgbClr>
                  </a:outerShdw>
                </a:effectLst>
                <a:latin typeface="Bahnschrift" panose="020B0502040204020203" pitchFamily="34" charset="0"/>
              </a:rPr>
              <a:t>đơn</a:t>
            </a:r>
            <a:r>
              <a:rPr lang="en-US" sz="24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en-US" sz="2400" dirty="0" err="1">
                <a:solidFill>
                  <a:schemeClr val="bg1"/>
                </a:solidFill>
                <a:effectLst>
                  <a:outerShdw blurRad="38100" dist="38100" dir="2700000" algn="tl">
                    <a:srgbClr val="000000">
                      <a:alpha val="43137"/>
                    </a:srgbClr>
                  </a:outerShdw>
                </a:effectLst>
                <a:latin typeface="Bahnschrift" panose="020B0502040204020203" pitchFamily="34" charset="0"/>
              </a:rPr>
              <a:t>vị</a:t>
            </a:r>
            <a:endParaRPr lang="vi-VN" sz="2400"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Tree>
    <p:extLst>
      <p:ext uri="{BB962C8B-B14F-4D97-AF65-F5344CB8AC3E}">
        <p14:creationId xmlns:p14="http://schemas.microsoft.com/office/powerpoint/2010/main" val="1477511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par>
                          <p:cTn id="13" fill="hold">
                            <p:stCondLst>
                              <p:cond delay="1000"/>
                            </p:stCondLst>
                            <p:childTnLst>
                              <p:par>
                                <p:cTn id="14" presetID="16" presetClass="entr" presetSubtype="21"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arn(inVertical)">
                                      <p:cBhvr>
                                        <p:cTn id="16" dur="500"/>
                                        <p:tgtEl>
                                          <p:spTgt spid="10"/>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arn(inVertical)">
                                      <p:cBhvr>
                                        <p:cTn id="19" dur="500"/>
                                        <p:tgtEl>
                                          <p:spTgt spid="11"/>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par>
                                <p:cTn id="23" presetID="16" presetClass="entr" presetSubtype="21"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arn(inVertical)">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p:bldP spid="11"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55BAF-F68B-3B8D-E452-7BF2AB6A6D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DFC456B-A1E4-CF04-8044-C2226542E786}"/>
              </a:ext>
            </a:extLst>
          </p:cNvPr>
          <p:cNvSpPr txBox="1"/>
          <p:nvPr/>
        </p:nvSpPr>
        <p:spPr>
          <a:xfrm>
            <a:off x="0" y="308628"/>
            <a:ext cx="12192000" cy="590309"/>
          </a:xfrm>
          <a:prstGeom prst="rect">
            <a:avLst/>
          </a:prstGeom>
          <a:solidFill>
            <a:srgbClr val="1E72B2"/>
          </a:solidFill>
        </p:spPr>
        <p:txBody>
          <a:bodyPr wrap="square" rtlCol="0" anchor="ctr">
            <a:noAutofit/>
          </a:bodyPr>
          <a:lstStyle/>
          <a:p>
            <a:pPr lvl="4">
              <a:spcBef>
                <a:spcPts val="300"/>
              </a:spcBef>
              <a:spcAft>
                <a:spcPts val="300"/>
              </a:spcAft>
            </a:pP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6" name="TextBox 5">
            <a:extLst>
              <a:ext uri="{FF2B5EF4-FFF2-40B4-BE49-F238E27FC236}">
                <a16:creationId xmlns:a16="http://schemas.microsoft.com/office/drawing/2014/main" id="{D1B40FED-5E23-4F52-0B4B-1CEA242DBF79}"/>
              </a:ext>
            </a:extLst>
          </p:cNvPr>
          <p:cNvSpPr txBox="1"/>
          <p:nvPr/>
        </p:nvSpPr>
        <p:spPr>
          <a:xfrm>
            <a:off x="0" y="277792"/>
            <a:ext cx="12192000" cy="590309"/>
          </a:xfrm>
          <a:prstGeom prst="rect">
            <a:avLst/>
          </a:prstGeom>
          <a:solidFill>
            <a:srgbClr val="1E72B2"/>
          </a:solidFill>
        </p:spPr>
        <p:txBody>
          <a:bodyPr wrap="square" rtlCol="0" anchor="ctr">
            <a:noAutofit/>
          </a:bodyPr>
          <a:lstStyle/>
          <a:p>
            <a:pPr lvl="4">
              <a:spcBef>
                <a:spcPts val="300"/>
              </a:spcBef>
              <a:spcAft>
                <a:spcPts val="300"/>
              </a:spcAft>
            </a:pP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10.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Hạn</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chế</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và</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hướng</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phát</a:t>
            </a:r>
            <a:r>
              <a:rPr lang="en-US" sz="3200" b="1" dirty="0">
                <a:solidFill>
                  <a:srgbClr val="FFFF00"/>
                </a:solidFill>
                <a:effectLst>
                  <a:outerShdw blurRad="38100" dist="38100" dir="2700000" algn="tl">
                    <a:srgbClr val="000000">
                      <a:alpha val="43137"/>
                    </a:srgbClr>
                  </a:outerShdw>
                </a:effectLst>
                <a:latin typeface="Bahnschrift" panose="020B0502040204020203" pitchFamily="34" charset="0"/>
              </a:rPr>
              <a:t> </a:t>
            </a:r>
            <a:r>
              <a:rPr lang="en-US" sz="3200" b="1" dirty="0" err="1">
                <a:solidFill>
                  <a:srgbClr val="FFFF00"/>
                </a:solidFill>
                <a:effectLst>
                  <a:outerShdw blurRad="38100" dist="38100" dir="2700000" algn="tl">
                    <a:srgbClr val="000000">
                      <a:alpha val="43137"/>
                    </a:srgbClr>
                  </a:outerShdw>
                </a:effectLst>
                <a:latin typeface="Bahnschrift" panose="020B0502040204020203" pitchFamily="34" charset="0"/>
              </a:rPr>
              <a:t>triển</a:t>
            </a:r>
            <a:endParaRPr lang="en-US" sz="3200" b="1" dirty="0">
              <a:solidFill>
                <a:srgbClr val="FFFF00"/>
              </a:solidFill>
              <a:effectLst>
                <a:outerShdw blurRad="38100" dist="38100" dir="2700000" algn="tl">
                  <a:srgbClr val="000000">
                    <a:alpha val="43137"/>
                  </a:srgbClr>
                </a:outerShdw>
              </a:effectLst>
              <a:latin typeface="Bahnschrift" panose="020B0502040204020203" pitchFamily="34" charset="0"/>
            </a:endParaRPr>
          </a:p>
        </p:txBody>
      </p:sp>
      <p:sp>
        <p:nvSpPr>
          <p:cNvPr id="8" name="TextBox 7">
            <a:extLst>
              <a:ext uri="{FF2B5EF4-FFF2-40B4-BE49-F238E27FC236}">
                <a16:creationId xmlns:a16="http://schemas.microsoft.com/office/drawing/2014/main" id="{A0DCB90B-0194-B050-A7E2-08D4A9A7527F}"/>
              </a:ext>
            </a:extLst>
          </p:cNvPr>
          <p:cNvSpPr txBox="1"/>
          <p:nvPr/>
        </p:nvSpPr>
        <p:spPr>
          <a:xfrm>
            <a:off x="0" y="952449"/>
            <a:ext cx="12192000" cy="4528997"/>
          </a:xfrm>
          <a:prstGeom prst="rect">
            <a:avLst/>
          </a:prstGeom>
          <a:noFill/>
        </p:spPr>
        <p:txBody>
          <a:bodyPr wrap="square">
            <a:spAutoFit/>
          </a:bodyPr>
          <a:lstStyle/>
          <a:p>
            <a:pPr lvl="1">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Hạn chế</a:t>
            </a:r>
          </a:p>
          <a:p>
            <a:pPr lvl="2">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Chưa tích hợp đăng ký thực tập online</a:t>
            </a:r>
          </a:p>
          <a:p>
            <a:pPr lvl="2">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Chưa có ứng dụng mobile riêng</a:t>
            </a:r>
          </a:p>
          <a:p>
            <a:pPr lvl="1">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Hướng phát triển</a:t>
            </a:r>
          </a:p>
          <a:p>
            <a:pPr lvl="2">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Mở rộng chức năng quản lý thực tập</a:t>
            </a:r>
          </a:p>
          <a:p>
            <a:pPr lvl="2">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Tích hợp hệ thống quản lý đào tạo</a:t>
            </a:r>
          </a:p>
          <a:p>
            <a:pPr lvl="2">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 </a:t>
            </a:r>
            <a:r>
              <a:rPr lang="vi-VN" sz="2800" dirty="0">
                <a:solidFill>
                  <a:schemeClr val="bg1"/>
                </a:solidFill>
                <a:effectLst>
                  <a:outerShdw blurRad="38100" dist="38100" dir="2700000" algn="tl">
                    <a:srgbClr val="000000">
                      <a:alpha val="43137"/>
                    </a:srgbClr>
                  </a:outerShdw>
                </a:effectLst>
                <a:latin typeface="Bahnschrift" panose="020B0502040204020203" pitchFamily="34" charset="0"/>
              </a:rPr>
              <a:t>Bổ sung báo cáo, thống kê nâng cao</a:t>
            </a:r>
          </a:p>
        </p:txBody>
      </p:sp>
      <p:sp>
        <p:nvSpPr>
          <p:cNvPr id="3" name="Slide Number Placeholder 2">
            <a:extLst>
              <a:ext uri="{FF2B5EF4-FFF2-40B4-BE49-F238E27FC236}">
                <a16:creationId xmlns:a16="http://schemas.microsoft.com/office/drawing/2014/main" id="{4ADC93D1-D242-E421-4752-E92B22C01869}"/>
              </a:ext>
            </a:extLst>
          </p:cNvPr>
          <p:cNvSpPr>
            <a:spLocks noGrp="1"/>
          </p:cNvSpPr>
          <p:nvPr>
            <p:ph type="sldNum" sz="quarter" idx="12"/>
          </p:nvPr>
        </p:nvSpPr>
        <p:spPr/>
        <p:txBody>
          <a:bodyPr/>
          <a:lstStyle/>
          <a:p>
            <a:fld id="{8EF1165B-0F1E-4C09-B047-A6274DCC401D}" type="slidenum">
              <a:rPr lang="en-US" smtClean="0"/>
              <a:t>17</a:t>
            </a:fld>
            <a:endParaRPr lang="en-US"/>
          </a:p>
        </p:txBody>
      </p:sp>
    </p:spTree>
    <p:extLst>
      <p:ext uri="{BB962C8B-B14F-4D97-AF65-F5344CB8AC3E}">
        <p14:creationId xmlns:p14="http://schemas.microsoft.com/office/powerpoint/2010/main" val="589353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76489-9EE3-B1CF-B8CC-6C46B7FEF1D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A550A22-8C02-82C1-6EEE-85847CADFF1B}"/>
              </a:ext>
            </a:extLst>
          </p:cNvPr>
          <p:cNvSpPr txBox="1"/>
          <p:nvPr/>
        </p:nvSpPr>
        <p:spPr>
          <a:xfrm>
            <a:off x="0" y="952449"/>
            <a:ext cx="12192000" cy="651012"/>
          </a:xfrm>
          <a:prstGeom prst="rect">
            <a:avLst/>
          </a:prstGeom>
          <a:noFill/>
        </p:spPr>
        <p:txBody>
          <a:bodyPr wrap="square">
            <a:spAutoFit/>
          </a:bodyPr>
          <a:lstStyle/>
          <a:p>
            <a:pPr algn="ctr">
              <a:lnSpc>
                <a:spcPct val="150000"/>
              </a:lnSpc>
            </a:pPr>
            <a:r>
              <a:rPr lang="en-US" sz="2800" dirty="0">
                <a:solidFill>
                  <a:schemeClr val="bg1"/>
                </a:solidFill>
                <a:effectLst>
                  <a:outerShdw blurRad="38100" dist="38100" dir="2700000" algn="tl">
                    <a:srgbClr val="000000">
                      <a:alpha val="43137"/>
                    </a:srgbClr>
                  </a:outerShdw>
                </a:effectLst>
                <a:latin typeface="Bahnschrift" panose="020B0502040204020203" pitchFamily="34" charset="0"/>
              </a:rPr>
              <a:t>THANK</a:t>
            </a:r>
            <a:endParaRPr lang="vi-VN" sz="2800"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3" name="Slide Number Placeholder 2">
            <a:extLst>
              <a:ext uri="{FF2B5EF4-FFF2-40B4-BE49-F238E27FC236}">
                <a16:creationId xmlns:a16="http://schemas.microsoft.com/office/drawing/2014/main" id="{EECFD5E7-285F-47C1-B11E-59412E1EC859}"/>
              </a:ext>
            </a:extLst>
          </p:cNvPr>
          <p:cNvSpPr>
            <a:spLocks noGrp="1"/>
          </p:cNvSpPr>
          <p:nvPr>
            <p:ph type="sldNum" sz="quarter" idx="12"/>
          </p:nvPr>
        </p:nvSpPr>
        <p:spPr/>
        <p:txBody>
          <a:bodyPr/>
          <a:lstStyle/>
          <a:p>
            <a:fld id="{8EF1165B-0F1E-4C09-B047-A6274DCC401D}" type="slidenum">
              <a:rPr lang="en-US" smtClean="0"/>
              <a:t>18</a:t>
            </a:fld>
            <a:endParaRPr lang="en-US"/>
          </a:p>
        </p:txBody>
      </p:sp>
    </p:spTree>
    <p:extLst>
      <p:ext uri="{BB962C8B-B14F-4D97-AF65-F5344CB8AC3E}">
        <p14:creationId xmlns:p14="http://schemas.microsoft.com/office/powerpoint/2010/main" val="370695065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398</TotalTime>
  <Words>2021</Words>
  <Application>Microsoft Office PowerPoint</Application>
  <PresentationFormat>Widescreen</PresentationFormat>
  <Paragraphs>166</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Bahnschrift</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Thien An</dc:creator>
  <cp:lastModifiedBy>Thien An</cp:lastModifiedBy>
  <cp:revision>68</cp:revision>
  <dcterms:created xsi:type="dcterms:W3CDTF">2026-01-02T10:27:31Z</dcterms:created>
  <dcterms:modified xsi:type="dcterms:W3CDTF">2026-01-09T17:28:53Z</dcterms:modified>
</cp:coreProperties>
</file>